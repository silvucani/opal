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Metadata/LabelInfo.xml" ContentType="application/vnd.ms-office.classificationlabel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71" r:id="rId6"/>
    <p:sldId id="272" r:id="rId7"/>
    <p:sldId id="262" r:id="rId8"/>
    <p:sldId id="263" r:id="rId9"/>
    <p:sldId id="264" r:id="rId10"/>
    <p:sldId id="273" r:id="rId11"/>
    <p:sldId id="278" r:id="rId12"/>
    <p:sldId id="266" r:id="rId13"/>
    <p:sldId id="275" r:id="rId14"/>
    <p:sldId id="267" r:id="rId15"/>
    <p:sldId id="276" r:id="rId16"/>
    <p:sldId id="269" r:id="rId17"/>
    <p:sldId id="270" r:id="rId18"/>
  </p:sldIdLst>
  <p:sldSz cx="12192000" cy="6858000"/>
  <p:notesSz cx="6858000" cy="9144000"/>
  <p:defaultTextStyle>
    <a:defPPr>
      <a:defRPr lang="fr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000"/>
    <a:srgbClr val="0A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C21FA-DEDA-7C36-F7DF-893293A8AA7F}" v="141" dt="2026-02-06T10:00:43.646"/>
    <p1510:client id="{D0BFC367-DB63-C431-EBB8-2C73DF34214D}" v="8" dt="2026-02-06T14:00:35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03BD5-A8C4-A94B-8220-177F9D406AC3}" type="datetimeFigureOut">
              <a:rPr lang="fr-US" smtClean="0"/>
              <a:t>2/6/26</a:t>
            </a:fld>
            <a:endParaRPr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5772F-212A-1848-B794-C65302AF49E5}" type="slidenum">
              <a:rPr lang="fr-FR" smtClean="0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62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E5772F-212A-1848-B794-C65302AF49E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495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781E54-8D6F-5B26-FB08-07581E2A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1A11B82-8FE9-068B-60C7-D9B4A3C9E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A4D8C3-F33E-0A9C-2D31-0F6B0757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9CFC7A-8C0A-77F9-4817-05B79BE6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3291E2-1686-35A1-F883-C472E5C7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12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E77F6-4432-1FCA-A570-78CD3F9E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27EFC7-900C-3F61-3401-38DAF95A3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89E0EB-38FE-7B12-44BB-D13ED186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F81611-F2F2-28E6-514D-38DF227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21AB1F-909F-AEF0-8AB3-42B17C67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36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A515CB-C56D-20C4-0035-33F7FB07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A4D046-EAF4-36C9-60B6-E70204094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2FAACA-0CB2-E5B8-0F97-9590F652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8A65AA-9922-F7A0-A646-02F0A7B1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576D72-852D-1D1E-E68D-C8AF412B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330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40E66D-7D54-927C-332F-B97C5FF3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E86D19-C17E-E7AB-B118-AC28DFC57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61322B-4E01-1DD1-FCC2-4AB4F5490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7EA6D2-2997-2716-7EA4-61EF2B3A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AC114B-6AC0-0663-1E24-8863D4B5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2E12BD-485F-DE43-9A7C-C6FB9764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5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9DD3B8-783F-5813-85EC-B4CFF51C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CB28B3-B42D-4257-B9E3-FE6902AF2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96300E-7FB1-A98D-1467-AB524407B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24D449-A6CF-A396-9AEF-556085AFF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1148664-C380-3DD6-03A3-E39E3D05B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16B8447-892E-EEF4-B2EB-E8950303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0422F06-AE26-6851-6964-D486AD20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A1DD62F-1DE7-5C7E-BE34-98A5076E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44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5D8071-BC07-313C-462D-5D765F3C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D1E7967-DA14-B587-99FB-FC27D7E2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8B1279-8E38-5740-5815-9D4DE57B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6AA7E7-2BD6-0600-4A00-EEE18517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626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EDAC01-2443-E9F7-B79D-CC1AA76C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A8F25AE-8233-8636-FE0E-F79ED9D6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334B04-DFB4-88AA-A436-4BF6E3F0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89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027C4-290F-80E9-3BA7-F2ABA9F1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C27187-3DD8-55F2-03D2-F97324678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F91BED-68AB-7763-DD5A-EC9926364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75152F-3546-85DE-D285-BACF7319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BEBDC0-0FE0-F6D5-5DA8-3B07E5F5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0C290F-790D-540E-41C1-3A23899D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7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02CF0B-A4C1-68A4-75A5-ECDB2D472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7E5CCB9-9D51-1905-C388-94B22FE75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D015F7-0D8C-90FE-37DE-9912A58C1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7A5266-1463-3CBD-7CBD-413B4216B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BD50BC-01E7-D3ED-F10E-1FBFDA49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BDF6EB-AD53-8D91-A1CB-1BAF68CD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109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16AFC6-02A9-1A51-A0C4-C72B06E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3E4195-8D74-B3D3-B7AB-F6BED0E65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88CA2F-096D-E24A-2442-78B1D98A9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DCF64E-53D7-9CA4-A4A8-D873DE133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CE6F17-902A-99BD-4A03-526C513A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97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FFF61A8-967B-5CF4-BB3B-DF0222568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445EBF-3AE7-F123-9A86-E04B350C2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3E9DE2-C150-44CA-50FC-F2297101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5C60E-B401-8B44-B52C-09D751B35C05}" type="datetimeFigureOut">
              <a:rPr lang="fr-US" smtClean="0"/>
              <a:t>2/6/26</a:t>
            </a:fld>
            <a:endParaRPr lang="fr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9CC80D-B8C8-DAF4-9A22-BF95A4EA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F0C6B8-91A8-EF7D-7889-A72351F8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311D0-C47F-C04D-8145-A0E66C6FAF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8129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_et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>
          <a:xfrm>
            <a:off x="759886" y="1907119"/>
            <a:ext cx="10668001" cy="4184647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fr-FR" noProof="0"/>
              <a:t>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2" name="Text Placeholder"/>
          <p:cNvSpPr>
            <a:spLocks noGrp="1"/>
          </p:cNvSpPr>
          <p:nvPr>
            <p:ph type="title" hasCustomPrompt="1"/>
          </p:nvPr>
        </p:nvSpPr>
        <p:spPr>
          <a:xfrm>
            <a:off x="759886" y="762002"/>
            <a:ext cx="10668001" cy="759884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Modifier le titre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66AA94D2-802F-C21F-3BB0-BDE853B80242}"/>
              </a:ext>
            </a:extLst>
          </p:cNvPr>
          <p:cNvSpPr txBox="1">
            <a:spLocks/>
          </p:cNvSpPr>
          <p:nvPr userDrawn="1"/>
        </p:nvSpPr>
        <p:spPr>
          <a:xfrm>
            <a:off x="759884" y="6096000"/>
            <a:ext cx="381000" cy="380997"/>
          </a:xfrm>
          <a:prstGeom prst="rect">
            <a:avLst/>
          </a:prstGeom>
        </p:spPr>
        <p:txBody>
          <a:bodyPr wrap="square" lIns="96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4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6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1067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121914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6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GB" sz="1067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10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">
              <a:srgbClr val="0A00FF"/>
            </a:gs>
            <a:gs pos="100000">
              <a:srgbClr val="FF7000"/>
            </a:gs>
          </a:gsLst>
          <a:lin ang="1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40F54F9-9CE5-AFE2-EDA1-421FFA3C6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8CD9B0-6C59-DCDE-FE30-4E93F7528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EBC83E-FE32-8FF8-B07D-27D8547B6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5C60E-B401-8B44-B52C-09D751B35C05}" type="datetimeFigureOut">
              <a:rPr lang="fr-US" smtClean="0"/>
              <a:t>2/6/26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908DB8-6454-79E6-91E4-3FD6C295B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0B37BD-F877-B8DF-F67F-E36D44DC9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311D0-C47F-C04D-8145-A0E66C6FAFB3}" type="slidenum">
              <a:rPr lang="fr-FR" smtClean="0"/>
              <a:t>‹N°›</a:t>
            </a:fld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D923B7A-A12C-9720-1CAF-8E9C673BEE4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>
                    <a:alpha val="50000"/>
                  </a:srgbClr>
                </a:solidFill>
                <a:latin typeface="Helvetica 75 Bold" panose="02000803050000020004" pitchFamily="2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065295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www.linkedin.com/in/catherine-abecassis/overlay/about-this-profile/?lipi=urn%3Ali%3Apage%3Ad_flagship3_profile_view_base%3BpxcLcOneSdm8d8twqG6MIw%3D%3D" TargetMode="External"/><Relationship Id="rId4" Type="http://schemas.openxmlformats.org/officeDocument/2006/relationships/hyperlink" Target="https://www.linkedin.com/in/nathalie-bussone-22a7bab3/overlay/about-this-profil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rgbClr val="0A00FF">
                <a:lumMod val="91000"/>
                <a:lumOff val="9000"/>
              </a:srgbClr>
            </a:gs>
            <a:gs pos="100000">
              <a:srgbClr val="FF7000"/>
            </a:gs>
          </a:gsLst>
          <a:lin ang="1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A3D63D-31F3-770C-515C-25EA8A2035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bg1"/>
                </a:solidFill>
                <a:latin typeface="IBM Plex Sans" panose="020B0503050203000203" pitchFamily="34" charset="0"/>
                <a:ea typeface="Roboto Mono Medium" pitchFamily="34" charset="-122"/>
                <a:cs typeface="Roboto Mono Medium" pitchFamily="34" charset="-120"/>
              </a:rPr>
              <a:t>Kick-off Hackathon Epitech &amp; Orange Business</a:t>
            </a:r>
            <a:endParaRPr b="1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BEDCEE-1BAB-47E7-2606-F744E43C3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IBM Plex Sans" panose="020B0503050203000203" pitchFamily="34" charset="0"/>
              </a:rPr>
              <a:t>Vendredi 7 février 2026</a:t>
            </a:r>
            <a:endParaRPr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C0FF1F-2336-77C9-EBF1-A2AE26B63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923" y="4822102"/>
            <a:ext cx="3601889" cy="87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23A7FBD-2B9F-D2A6-D51B-BEC7C347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8188" y="4717503"/>
            <a:ext cx="5127812" cy="1080592"/>
          </a:xfrm>
          <a:prstGeom prst="rect">
            <a:avLst/>
          </a:prstGeom>
        </p:spPr>
      </p:pic>
      <p:pic>
        <p:nvPicPr>
          <p:cNvPr id="9" name="Image 8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25D7FC87-C46C-07D5-F9D9-40A43FC68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412" y="-1273143"/>
            <a:ext cx="7772400" cy="6618082"/>
          </a:xfrm>
          <a:prstGeom prst="rect">
            <a:avLst/>
          </a:prstGeom>
        </p:spPr>
      </p:pic>
      <p:pic>
        <p:nvPicPr>
          <p:cNvPr id="11" name="Image 10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78834CC8-1939-AED0-C879-C8C519082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17745" y="2426596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51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C5E60-BBBB-BDB9-48C3-72026D94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Objectifs du Hackathon</a:t>
            </a:r>
            <a:endParaRPr>
              <a:solidFill>
                <a:schemeClr val="bg1"/>
              </a:solidFill>
              <a:latin typeface="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C5DA5E-0CB9-DBD0-B8EE-D7E37A23C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F533BCD-7060-FBD5-6396-0B9EAAC2A2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62A24BE-EFD3-7FF4-8945-39577B8E887D}"/>
              </a:ext>
            </a:extLst>
          </p:cNvPr>
          <p:cNvSpPr/>
          <p:nvPr/>
        </p:nvSpPr>
        <p:spPr>
          <a:xfrm>
            <a:off x="548053" y="2583611"/>
            <a:ext cx="3124201" cy="2639021"/>
          </a:xfrm>
          <a:prstGeom prst="rect">
            <a:avLst/>
          </a:prstGeom>
          <a:solidFill>
            <a:schemeClr val="bg1">
              <a:alpha val="4820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DD4061-869F-F653-160C-0B0200C8CB20}"/>
              </a:ext>
            </a:extLst>
          </p:cNvPr>
          <p:cNvSpPr/>
          <p:nvPr/>
        </p:nvSpPr>
        <p:spPr>
          <a:xfrm>
            <a:off x="4533899" y="2583611"/>
            <a:ext cx="3124201" cy="2639021"/>
          </a:xfrm>
          <a:prstGeom prst="rect">
            <a:avLst/>
          </a:prstGeom>
          <a:solidFill>
            <a:schemeClr val="bg1">
              <a:alpha val="4820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15294C-80E3-FDDC-A49C-C4D99621C19F}"/>
              </a:ext>
            </a:extLst>
          </p:cNvPr>
          <p:cNvSpPr/>
          <p:nvPr/>
        </p:nvSpPr>
        <p:spPr>
          <a:xfrm>
            <a:off x="8519745" y="2583610"/>
            <a:ext cx="3124201" cy="2639021"/>
          </a:xfrm>
          <a:prstGeom prst="rect">
            <a:avLst/>
          </a:prstGeom>
          <a:solidFill>
            <a:schemeClr val="bg1">
              <a:alpha val="4820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9CCC51B2-6D1D-38FD-DC6B-924BBC86FD3A}"/>
              </a:ext>
            </a:extLst>
          </p:cNvPr>
          <p:cNvSpPr/>
          <p:nvPr/>
        </p:nvSpPr>
        <p:spPr>
          <a:xfrm>
            <a:off x="616213" y="2679603"/>
            <a:ext cx="26382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Innovation Concrète</a:t>
            </a:r>
            <a:endParaRPr lang="en-US" sz="2000">
              <a:latin typeface="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4B0C91B-F833-E430-4610-0B4823712E41}"/>
              </a:ext>
            </a:extLst>
          </p:cNvPr>
          <p:cNvSpPr/>
          <p:nvPr/>
        </p:nvSpPr>
        <p:spPr>
          <a:xfrm>
            <a:off x="616212" y="3170022"/>
            <a:ext cx="296070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Relever des challenges technologiques réels proposés par Orange Business et développer des prototypes fonctionnels.</a:t>
            </a:r>
            <a:endParaRPr lang="en-US" sz="1750">
              <a:latin typeface=""/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E2D7BD50-567B-A581-FB91-2F9639967FB1}"/>
              </a:ext>
            </a:extLst>
          </p:cNvPr>
          <p:cNvSpPr/>
          <p:nvPr/>
        </p:nvSpPr>
        <p:spPr>
          <a:xfrm>
            <a:off x="4623763" y="2679603"/>
            <a:ext cx="2838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Collaboration Active</a:t>
            </a:r>
            <a:endParaRPr lang="en-US" sz="2000">
              <a:latin typeface="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E48F5346-0D6B-5E39-9DF9-ACD984830648}"/>
              </a:ext>
            </a:extLst>
          </p:cNvPr>
          <p:cNvSpPr/>
          <p:nvPr/>
        </p:nvSpPr>
        <p:spPr>
          <a:xfrm>
            <a:off x="4569070" y="3170022"/>
            <a:ext cx="298817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Créer des synergies entre étudiants Epitech et experts Orange Business pour croiser les expertises.</a:t>
            </a:r>
            <a:endParaRPr lang="en-US" sz="1750">
              <a:latin typeface="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48558A2E-B2E3-337D-87F8-4F1D0E9B9DA3}"/>
              </a:ext>
            </a:extLst>
          </p:cNvPr>
          <p:cNvSpPr/>
          <p:nvPr/>
        </p:nvSpPr>
        <p:spPr>
          <a:xfrm>
            <a:off x="8537331" y="2679603"/>
            <a:ext cx="23150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Impact Rapide</a:t>
            </a:r>
            <a:endParaRPr lang="en-US" sz="2000">
              <a:latin typeface=""/>
            </a:endParaRPr>
          </a:p>
        </p:txBody>
      </p:sp>
      <p:pic>
        <p:nvPicPr>
          <p:cNvPr id="41" name="Image 40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71A3CC6C-0EDB-1C77-F7A6-BF94F0A419B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391041" y="-441119"/>
            <a:ext cx="7772400" cy="6618082"/>
          </a:xfrm>
          <a:prstGeom prst="rect">
            <a:avLst/>
          </a:prstGeom>
        </p:spPr>
      </p:pic>
      <p:sp>
        <p:nvSpPr>
          <p:cNvPr id="40" name="Text 11">
            <a:extLst>
              <a:ext uri="{FF2B5EF4-FFF2-40B4-BE49-F238E27FC236}">
                <a16:creationId xmlns:a16="http://schemas.microsoft.com/office/drawing/2014/main" id="{0A886223-A460-E28A-7380-4F75734475CE}"/>
              </a:ext>
            </a:extLst>
          </p:cNvPr>
          <p:cNvSpPr/>
          <p:nvPr/>
        </p:nvSpPr>
        <p:spPr>
          <a:xfrm>
            <a:off x="8572501" y="3170022"/>
            <a:ext cx="30032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Transformer des idées audacieuses en solutions démonstrables en seulement 48 heures intensives.</a:t>
            </a:r>
            <a:endParaRPr lang="en-US" sz="1750">
              <a:latin typeface=""/>
            </a:endParaRPr>
          </a:p>
        </p:txBody>
      </p:sp>
      <p:pic>
        <p:nvPicPr>
          <p:cNvPr id="42" name="Image 41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4226244F-29BE-AE26-E2B2-8F2397A069F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160683" y="740671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0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137DB-A472-6ED4-C389-BF38C948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Constitution des équipes</a:t>
            </a:r>
            <a:endParaRPr>
              <a:solidFill>
                <a:schemeClr val="bg1"/>
              </a:solidFill>
              <a:latin typeface="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3FCB07F-25B3-BEE1-AF86-8E9247B83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id="{B7C047B3-532D-794C-BB30-BD5B93AC2E4D}"/>
              </a:ext>
            </a:extLst>
          </p:cNvPr>
          <p:cNvGrpSpPr/>
          <p:nvPr/>
        </p:nvGrpSpPr>
        <p:grpSpPr>
          <a:xfrm>
            <a:off x="838200" y="2513767"/>
            <a:ext cx="1636003" cy="270614"/>
            <a:chOff x="838200" y="3651033"/>
            <a:chExt cx="1636003" cy="270614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5B368763-76BE-8FC0-0502-F6918ABC186C}"/>
                </a:ext>
              </a:extLst>
            </p:cNvPr>
            <p:cNvSpPr/>
            <p:nvPr/>
          </p:nvSpPr>
          <p:spPr>
            <a:xfrm>
              <a:off x="838200" y="3772892"/>
              <a:ext cx="1636003" cy="71392"/>
            </a:xfrm>
            <a:prstGeom prst="roundRect">
              <a:avLst>
                <a:gd name="adj" fmla="val 27907"/>
              </a:avLst>
            </a:prstGeom>
            <a:solidFill>
              <a:schemeClr val="bg1">
                <a:alpha val="40000"/>
              </a:schemeClr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B8C9DB92-3A38-784B-2886-1B066B529BC3}"/>
                </a:ext>
              </a:extLst>
            </p:cNvPr>
            <p:cNvSpPr/>
            <p:nvPr/>
          </p:nvSpPr>
          <p:spPr>
            <a:xfrm>
              <a:off x="1558453" y="3651033"/>
              <a:ext cx="275993" cy="270614"/>
            </a:xfrm>
            <a:prstGeom prst="roundRect">
              <a:avLst>
                <a:gd name="adj" fmla="val 134383"/>
              </a:avLst>
            </a:prstGeom>
            <a:solidFill>
              <a:schemeClr val="bg1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F764F398-258B-5C7B-60AD-246577D08C67}"/>
              </a:ext>
            </a:extLst>
          </p:cNvPr>
          <p:cNvGrpSpPr/>
          <p:nvPr/>
        </p:nvGrpSpPr>
        <p:grpSpPr>
          <a:xfrm>
            <a:off x="3745753" y="2513767"/>
            <a:ext cx="1636003" cy="270614"/>
            <a:chOff x="3939538" y="3526524"/>
            <a:chExt cx="1636003" cy="270614"/>
          </a:xfrm>
        </p:grpSpPr>
        <p:sp>
          <p:nvSpPr>
            <p:cNvPr id="14" name="Shape 2">
              <a:extLst>
                <a:ext uri="{FF2B5EF4-FFF2-40B4-BE49-F238E27FC236}">
                  <a16:creationId xmlns:a16="http://schemas.microsoft.com/office/drawing/2014/main" id="{7C0FBB44-B8CF-0173-D7C5-D2F378C1B89B}"/>
                </a:ext>
              </a:extLst>
            </p:cNvPr>
            <p:cNvSpPr/>
            <p:nvPr/>
          </p:nvSpPr>
          <p:spPr>
            <a:xfrm>
              <a:off x="3939538" y="3645063"/>
              <a:ext cx="1636003" cy="71392"/>
            </a:xfrm>
            <a:prstGeom prst="roundRect">
              <a:avLst>
                <a:gd name="adj" fmla="val 27907"/>
              </a:avLst>
            </a:prstGeom>
            <a:solidFill>
              <a:schemeClr val="bg1">
                <a:alpha val="40000"/>
              </a:schemeClr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EA19F4C0-6E7F-C48D-AFFD-72B624325B0B}"/>
                </a:ext>
              </a:extLst>
            </p:cNvPr>
            <p:cNvSpPr/>
            <p:nvPr/>
          </p:nvSpPr>
          <p:spPr>
            <a:xfrm>
              <a:off x="4661196" y="3526524"/>
              <a:ext cx="275993" cy="270614"/>
            </a:xfrm>
            <a:prstGeom prst="roundRect">
              <a:avLst>
                <a:gd name="adj" fmla="val 134383"/>
              </a:avLst>
            </a:prstGeom>
            <a:solidFill>
              <a:schemeClr val="bg1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D9D3954F-9B49-A9DA-D9CC-801DF4F810E3}"/>
              </a:ext>
            </a:extLst>
          </p:cNvPr>
          <p:cNvGrpSpPr/>
          <p:nvPr/>
        </p:nvGrpSpPr>
        <p:grpSpPr>
          <a:xfrm>
            <a:off x="6653306" y="2513767"/>
            <a:ext cx="1636003" cy="270614"/>
            <a:chOff x="7041777" y="3509683"/>
            <a:chExt cx="1636003" cy="270614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3378141D-D950-4C0D-EA91-7DC6072AAF86}"/>
                </a:ext>
              </a:extLst>
            </p:cNvPr>
            <p:cNvSpPr/>
            <p:nvPr/>
          </p:nvSpPr>
          <p:spPr>
            <a:xfrm>
              <a:off x="7041777" y="3628222"/>
              <a:ext cx="1636003" cy="71392"/>
            </a:xfrm>
            <a:prstGeom prst="roundRect">
              <a:avLst>
                <a:gd name="adj" fmla="val 27907"/>
              </a:avLst>
            </a:prstGeom>
            <a:solidFill>
              <a:schemeClr val="bg1">
                <a:alpha val="40000"/>
              </a:schemeClr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99A366B2-CCD9-1889-6821-8EBCF3A20900}"/>
                </a:ext>
              </a:extLst>
            </p:cNvPr>
            <p:cNvSpPr/>
            <p:nvPr/>
          </p:nvSpPr>
          <p:spPr>
            <a:xfrm>
              <a:off x="7763435" y="3509683"/>
              <a:ext cx="275993" cy="270614"/>
            </a:xfrm>
            <a:prstGeom prst="roundRect">
              <a:avLst>
                <a:gd name="adj" fmla="val 134383"/>
              </a:avLst>
            </a:prstGeom>
            <a:solidFill>
              <a:schemeClr val="bg1"/>
            </a:solidFill>
            <a:ln/>
          </p:spPr>
          <p:txBody>
            <a:bodyPr/>
            <a:lstStyle/>
            <a:p>
              <a:endParaRPr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4443369B-7ACD-E1B8-6B53-138F2E723C57}"/>
              </a:ext>
            </a:extLst>
          </p:cNvPr>
          <p:cNvGrpSpPr/>
          <p:nvPr/>
        </p:nvGrpSpPr>
        <p:grpSpPr>
          <a:xfrm>
            <a:off x="9560858" y="2513767"/>
            <a:ext cx="1636003" cy="270614"/>
            <a:chOff x="9560858" y="3509683"/>
            <a:chExt cx="1636003" cy="270614"/>
          </a:xfrm>
        </p:grpSpPr>
        <p:sp>
          <p:nvSpPr>
            <p:cNvPr id="18" name="Shape 2">
              <a:extLst>
                <a:ext uri="{FF2B5EF4-FFF2-40B4-BE49-F238E27FC236}">
                  <a16:creationId xmlns:a16="http://schemas.microsoft.com/office/drawing/2014/main" id="{237E4E82-B232-7DEB-92F0-7EAADFBB81B9}"/>
                </a:ext>
              </a:extLst>
            </p:cNvPr>
            <p:cNvSpPr/>
            <p:nvPr/>
          </p:nvSpPr>
          <p:spPr>
            <a:xfrm>
              <a:off x="9560858" y="3628222"/>
              <a:ext cx="1636003" cy="71392"/>
            </a:xfrm>
            <a:prstGeom prst="roundRect">
              <a:avLst>
                <a:gd name="adj" fmla="val 27907"/>
              </a:avLst>
            </a:prstGeom>
            <a:solidFill>
              <a:schemeClr val="bg1">
                <a:alpha val="40000"/>
              </a:schemeClr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1DF9BD49-4AA5-5057-DDF3-A648FB9CC58E}"/>
                </a:ext>
              </a:extLst>
            </p:cNvPr>
            <p:cNvSpPr/>
            <p:nvPr/>
          </p:nvSpPr>
          <p:spPr>
            <a:xfrm>
              <a:off x="10282516" y="3509683"/>
              <a:ext cx="275993" cy="270614"/>
            </a:xfrm>
            <a:prstGeom prst="roundRect">
              <a:avLst>
                <a:gd name="adj" fmla="val 134383"/>
              </a:avLst>
            </a:prstGeom>
            <a:solidFill>
              <a:schemeClr val="bg1"/>
            </a:solidFill>
            <a:ln/>
          </p:spPr>
          <p:txBody>
            <a:bodyPr/>
            <a:lstStyle/>
            <a:p>
              <a:endParaRPr/>
            </a:p>
          </p:txBody>
        </p:sp>
      </p:grpSp>
      <p:sp>
        <p:nvSpPr>
          <p:cNvPr id="30" name="Text 5">
            <a:extLst>
              <a:ext uri="{FF2B5EF4-FFF2-40B4-BE49-F238E27FC236}">
                <a16:creationId xmlns:a16="http://schemas.microsoft.com/office/drawing/2014/main" id="{65A38A5B-7485-0F0D-B91F-6C393476232C}"/>
              </a:ext>
            </a:extLst>
          </p:cNvPr>
          <p:cNvSpPr/>
          <p:nvPr/>
        </p:nvSpPr>
        <p:spPr>
          <a:xfrm>
            <a:off x="1147075" y="2927930"/>
            <a:ext cx="1098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"/>
                <a:ea typeface="Roboto Mono Medium" pitchFamily="34" charset="-122"/>
              </a:rPr>
              <a:t>Equipes</a:t>
            </a:r>
            <a:endParaRPr lang="en-US" sz="2200">
              <a:latin typeface="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CB0298BA-E87A-D8A0-F8DF-1CCE8AD4584B}"/>
              </a:ext>
            </a:extLst>
          </p:cNvPr>
          <p:cNvSpPr/>
          <p:nvPr/>
        </p:nvSpPr>
        <p:spPr>
          <a:xfrm>
            <a:off x="378731" y="3396658"/>
            <a:ext cx="257591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4 </a:t>
            </a:r>
            <a:r>
              <a:rPr lang="en-US" sz="1750" err="1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membres</a:t>
            </a: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 / équipe</a:t>
            </a:r>
            <a:endParaRPr lang="en-US" sz="1750">
              <a:latin typeface="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80D74652-3BCA-1C18-957F-93F101412CDF}"/>
              </a:ext>
            </a:extLst>
          </p:cNvPr>
          <p:cNvSpPr/>
          <p:nvPr/>
        </p:nvSpPr>
        <p:spPr>
          <a:xfrm>
            <a:off x="4056033" y="2925017"/>
            <a:ext cx="1098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err="1">
                <a:solidFill>
                  <a:srgbClr val="E5E0DF"/>
                </a:solidFill>
                <a:latin typeface=""/>
                <a:ea typeface="Roboto Mono Medium" pitchFamily="34" charset="-122"/>
              </a:rPr>
              <a:t>Diversité</a:t>
            </a:r>
            <a:endParaRPr lang="en-US" sz="2200">
              <a:latin typeface="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E9F7FF40-096C-CF2E-407B-E32B2FA276BE}"/>
              </a:ext>
            </a:extLst>
          </p:cNvPr>
          <p:cNvSpPr/>
          <p:nvPr/>
        </p:nvSpPr>
        <p:spPr>
          <a:xfrm>
            <a:off x="3333379" y="3396658"/>
            <a:ext cx="257591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Mix des </a:t>
            </a:r>
            <a:r>
              <a:rPr lang="en-US" sz="1750" err="1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différents</a:t>
            </a: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err="1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niveaux</a:t>
            </a: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 techniques / mix de </a:t>
            </a:r>
            <a:r>
              <a:rPr lang="en-US" sz="1750" err="1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compétences</a:t>
            </a:r>
            <a:endParaRPr lang="en-US" sz="1750">
              <a:latin typeface="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AA4B9AEE-1A62-F7AC-DC6D-53DE34082C48}"/>
              </a:ext>
            </a:extLst>
          </p:cNvPr>
          <p:cNvSpPr/>
          <p:nvPr/>
        </p:nvSpPr>
        <p:spPr>
          <a:xfrm>
            <a:off x="6420243" y="2925017"/>
            <a:ext cx="21854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Complémentarité</a:t>
            </a:r>
            <a:endParaRPr lang="en-US" sz="2200">
              <a:latin typeface=""/>
            </a:endParaRPr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D72773FB-33B7-2B4B-5066-17CDCC27A6FC}"/>
              </a:ext>
            </a:extLst>
          </p:cNvPr>
          <p:cNvSpPr/>
          <p:nvPr/>
        </p:nvSpPr>
        <p:spPr>
          <a:xfrm>
            <a:off x="6282706" y="3415435"/>
            <a:ext cx="2576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Objectif : créer des synergies entre compétences techniques, créativité design et gestion agile.</a:t>
            </a:r>
            <a:endParaRPr lang="en-US" sz="1750">
              <a:latin typeface="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A9E7D9B0-DC50-F0CF-F0FB-94CB3806B797}"/>
              </a:ext>
            </a:extLst>
          </p:cNvPr>
          <p:cNvSpPr/>
          <p:nvPr/>
        </p:nvSpPr>
        <p:spPr>
          <a:xfrm>
            <a:off x="9734419" y="2913968"/>
            <a:ext cx="1372185" cy="376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Innovation</a:t>
            </a:r>
            <a:endParaRPr lang="en-US" sz="2200">
              <a:latin typeface=""/>
            </a:endParaRPr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5EF45685-DBCB-59CD-53AE-F0E49C859342}"/>
              </a:ext>
            </a:extLst>
          </p:cNvPr>
          <p:cNvSpPr/>
          <p:nvPr/>
        </p:nvSpPr>
        <p:spPr>
          <a:xfrm>
            <a:off x="9232152" y="3415435"/>
            <a:ext cx="265677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La diversité des équipes est la clé pour générer des solutions innovantes et différenciantes.</a:t>
            </a:r>
            <a:endParaRPr lang="en-US" sz="1750">
              <a:latin typeface=""/>
            </a:endParaRP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06F73839-BF7D-5DC7-0C96-B082E68521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39" name="Image 38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7F831C2F-BF1A-9FAA-8668-8EACF9A4202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391041" y="-441119"/>
            <a:ext cx="7772400" cy="6618082"/>
          </a:xfrm>
          <a:prstGeom prst="rect">
            <a:avLst/>
          </a:prstGeom>
        </p:spPr>
      </p:pic>
      <p:pic>
        <p:nvPicPr>
          <p:cNvPr id="40" name="Image 39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B8656FD8-EDB7-97B3-217E-373ECAB0331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160683" y="740671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3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9AFF32-244D-3437-ACF6-D0E3083A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Les coachs - Epitech</a:t>
            </a:r>
            <a:endParaRPr>
              <a:solidFill>
                <a:schemeClr val="bg1"/>
              </a:solidFill>
              <a:latin typeface="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490E617-428D-4507-8B8A-C5D0F6F60044}"/>
              </a:ext>
            </a:extLst>
          </p:cNvPr>
          <p:cNvSpPr/>
          <p:nvPr/>
        </p:nvSpPr>
        <p:spPr>
          <a:xfrm>
            <a:off x="712701" y="1815352"/>
            <a:ext cx="2756647" cy="2756647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BAA309E-CCED-A2F5-1012-9A8002EEBB6D}"/>
              </a:ext>
            </a:extLst>
          </p:cNvPr>
          <p:cNvSpPr/>
          <p:nvPr/>
        </p:nvSpPr>
        <p:spPr>
          <a:xfrm>
            <a:off x="4993348" y="1815352"/>
            <a:ext cx="2756647" cy="275664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5E338F2-B211-F580-C73A-1443CDC6C91D}"/>
              </a:ext>
            </a:extLst>
          </p:cNvPr>
          <p:cNvSpPr txBox="1"/>
          <p:nvPr/>
        </p:nvSpPr>
        <p:spPr>
          <a:xfrm>
            <a:off x="4933957" y="4844025"/>
            <a:ext cx="28754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None/>
            </a:pPr>
            <a:r>
              <a:rPr lang="fr-FR" sz="2500" b="1" i="0" strike="noStrike">
                <a:solidFill>
                  <a:schemeClr val="bg1"/>
                </a:solidFill>
                <a:effectLst/>
                <a:latin typeface=""/>
              </a:rPr>
              <a:t>Nathalie Bussone</a:t>
            </a:r>
            <a:endParaRPr lang="fr-FR" sz="2500" b="1" i="0" strike="noStrike">
              <a:solidFill>
                <a:schemeClr val="bg1"/>
              </a:solidFill>
              <a:effectLst/>
              <a:latin typeface="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AFC464F-E3ED-4CE2-DB4F-5A29936F0C82}"/>
              </a:ext>
            </a:extLst>
          </p:cNvPr>
          <p:cNvSpPr txBox="1"/>
          <p:nvPr/>
        </p:nvSpPr>
        <p:spPr>
          <a:xfrm>
            <a:off x="464489" y="4844025"/>
            <a:ext cx="407769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fr-FR" sz="2500" b="1">
                <a:solidFill>
                  <a:schemeClr val="bg1"/>
                </a:solidFill>
                <a:latin typeface=""/>
              </a:rPr>
              <a:t>Catherine Abecassis</a:t>
            </a:r>
            <a:endParaRPr lang="fr-FR" sz="2500" b="1">
              <a:solidFill>
                <a:schemeClr val="bg1"/>
              </a:solidFill>
              <a:latin typeface="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40F2A4A-427F-E667-E3DF-59D081CD9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B5DFC8F-BBE1-9159-F41E-932FF959F4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B0524A3-05EE-C7D2-DF97-12E354BCD909}"/>
              </a:ext>
            </a:extLst>
          </p:cNvPr>
          <p:cNvSpPr txBox="1"/>
          <p:nvPr/>
        </p:nvSpPr>
        <p:spPr>
          <a:xfrm>
            <a:off x="9273995" y="3190473"/>
            <a:ext cx="159273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None/>
            </a:pPr>
            <a:r>
              <a:rPr lang="fr-FR" sz="2500" b="1" i="0" strike="noStrike">
                <a:solidFill>
                  <a:schemeClr val="bg1"/>
                </a:solidFill>
                <a:effectLst/>
                <a:latin typeface=""/>
              </a:rPr>
              <a:t>EPITECH</a:t>
            </a:r>
            <a:endParaRPr lang="fr-FR" sz="2500" b="1" i="0" strike="noStrike">
              <a:solidFill>
                <a:schemeClr val="bg1"/>
              </a:solidFill>
              <a:effectLst/>
              <a:latin typeface="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6" name="Image 15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295597E0-3550-6839-B27E-9704FFBB2C4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10391041" y="-441119"/>
            <a:ext cx="7772400" cy="6618082"/>
          </a:xfrm>
          <a:prstGeom prst="rect">
            <a:avLst/>
          </a:prstGeom>
        </p:spPr>
      </p:pic>
      <p:pic>
        <p:nvPicPr>
          <p:cNvPr id="17" name="Image 16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7E44D3E0-600E-09E8-A05C-DA5E7DFCBE7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-6160683" y="740671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78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B181-98A5-4C01-9D5B-C211E5E0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FC90A-DB57-28F0-B485-83FF9E2A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Les mentors – Orange Business</a:t>
            </a:r>
            <a:endParaRPr>
              <a:solidFill>
                <a:schemeClr val="bg1"/>
              </a:solidFill>
              <a:latin typeface="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56C33F7-F7E7-54E8-185B-BBCF7ED57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5DCF780-8CF8-0A3C-7D54-CF8AE15B43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16" name="Image 15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538A0B3C-98FE-2DB8-2671-DD5BADE2863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391041" y="-441119"/>
            <a:ext cx="7772400" cy="6618082"/>
          </a:xfrm>
          <a:prstGeom prst="rect">
            <a:avLst/>
          </a:prstGeom>
        </p:spPr>
      </p:pic>
      <p:pic>
        <p:nvPicPr>
          <p:cNvPr id="17" name="Image 16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F98229B0-CAD1-4F21-4CF6-1B1FBD6F415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160683" y="740671"/>
            <a:ext cx="7772400" cy="6618082"/>
          </a:xfrm>
          <a:prstGeom prst="rect">
            <a:avLst/>
          </a:prstGeom>
        </p:spPr>
      </p:pic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62A006CD-2341-BCE8-91C4-B3C6443C2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878430"/>
              </p:ext>
            </p:extLst>
          </p:nvPr>
        </p:nvGraphicFramePr>
        <p:xfrm>
          <a:off x="2546103" y="1502979"/>
          <a:ext cx="7303554" cy="4610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660">
                  <a:extLst>
                    <a:ext uri="{9D8B030D-6E8A-4147-A177-3AD203B41FA5}">
                      <a16:colId xmlns:a16="http://schemas.microsoft.com/office/drawing/2014/main" val="3191672967"/>
                    </a:ext>
                  </a:extLst>
                </a:gridCol>
                <a:gridCol w="4134894">
                  <a:extLst>
                    <a:ext uri="{9D8B030D-6E8A-4147-A177-3AD203B41FA5}">
                      <a16:colId xmlns:a16="http://schemas.microsoft.com/office/drawing/2014/main" val="1564450484"/>
                    </a:ext>
                  </a:extLst>
                </a:gridCol>
              </a:tblGrid>
              <a:tr h="384188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tx1"/>
                          </a:solidFill>
                        </a:rPr>
                        <a:t>Prénom Nom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fr-FR" err="1">
                          <a:solidFill>
                            <a:schemeClr val="tx1"/>
                          </a:solidFill>
                        </a:rPr>
                        <a:t>Metier</a:t>
                      </a:r>
                      <a:endParaRPr lang="fr-FR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56383290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Valérie </a:t>
                      </a:r>
                      <a:r>
                        <a:rPr lang="fr-FR" sz="1400" err="1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Pascallon</a:t>
                      </a:r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 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Coach Agile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15832147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Alexandre Aubert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Scrum Master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91148377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David </a:t>
                      </a:r>
                      <a:r>
                        <a:rPr lang="fr-FR" sz="1400" err="1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Milazzo</a:t>
                      </a:r>
                      <a:endParaRPr lang="fr-FR" sz="1400">
                        <a:solidFill>
                          <a:schemeClr val="tx1"/>
                        </a:solidFill>
                        <a:latin typeface="Helvetica 55 Roman" panose="02000503040000020004" pitchFamily="34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Ingénieur architecte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780362814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Hector Perez Vazquez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Ingénieur architecte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73012589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Lucas Bertrand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Ingénieur Développeur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8468045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Enzo Pascallon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Ingénieur Développeur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10469186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Stéphane </a:t>
                      </a:r>
                      <a:r>
                        <a:rPr lang="fr-FR" sz="1400" err="1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Raljevic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Ingénieur DevOps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21347881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Alexis Langlade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Directeur adjoint (Avant-vente et Tech)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06846833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Julian </a:t>
                      </a:r>
                      <a:r>
                        <a:rPr lang="fr-FR" sz="1400" b="0" i="0" u="none" strike="noStrike" noProof="0" err="1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Dezarnaud</a:t>
                      </a:r>
                      <a:endParaRPr lang="en-US" err="1">
                        <a:solidFill>
                          <a:schemeClr val="tx1"/>
                        </a:solidFill>
                        <a:latin typeface="Helvetica 55 Roman" panose="02000503040000020004" pitchFamily="34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Ingénieur Dev / Scrum Master</a:t>
                      </a:r>
                      <a:endParaRPr lang="en-US">
                        <a:solidFill>
                          <a:schemeClr val="tx1"/>
                        </a:solidFill>
                        <a:latin typeface="Helvetica 55 Roman" panose="02000503040000020004" pitchFamily="34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02016250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Lydie </a:t>
                      </a:r>
                      <a:r>
                        <a:rPr lang="fr-FR" sz="1400" err="1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Callois</a:t>
                      </a:r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 Elias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UX/UI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10413964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Jeremy Lemaire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err="1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Specialiste</a:t>
                      </a:r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 infra </a:t>
                      </a:r>
                      <a:r>
                        <a:rPr lang="fr-FR" sz="1400" err="1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sys</a:t>
                      </a:r>
                      <a:r>
                        <a:rPr lang="fr-FR" sz="1400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 admin temps </a:t>
                      </a:r>
                      <a:r>
                        <a:rPr lang="fr-FR" sz="1400" err="1">
                          <a:solidFill>
                            <a:schemeClr val="tx1"/>
                          </a:solidFill>
                          <a:latin typeface="Helvetica 55 Roman" panose="02000503040000020004" pitchFamily="34" charset="0"/>
                        </a:rPr>
                        <a:t>reel</a:t>
                      </a:r>
                      <a:endParaRPr lang="fr-FR" sz="1400">
                        <a:solidFill>
                          <a:schemeClr val="tx1"/>
                        </a:solidFill>
                        <a:latin typeface="Helvetica 55 Roman" panose="02000503040000020004" pitchFamily="34" charset="0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57986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48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7FED8C-A69A-9F52-5E64-6682768D0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</a:rPr>
              <a:t>Le Jury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5449CE-F0D1-18A6-FF05-A08F2CECD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Orange Business: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Valérie Guillon – Ressource Humaine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Thomas </a:t>
            </a:r>
            <a:r>
              <a:rPr lang="fr-FR" dirty="0" err="1">
                <a:solidFill>
                  <a:schemeClr val="bg1"/>
                </a:solidFill>
              </a:rPr>
              <a:t>Vignally</a:t>
            </a:r>
            <a:r>
              <a:rPr lang="fr-FR" dirty="0">
                <a:solidFill>
                  <a:schemeClr val="bg1"/>
                </a:solidFill>
              </a:rPr>
              <a:t> – Technico-commercial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Alexis Langlade – Direction de projet technique digital et data</a:t>
            </a:r>
          </a:p>
          <a:p>
            <a:pPr lvl="1"/>
            <a:endParaRPr lang="fr-F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Epitech:</a:t>
            </a:r>
          </a:p>
          <a:p>
            <a:pPr lvl="1"/>
            <a:r>
              <a:rPr lang="fr-FR" dirty="0" err="1">
                <a:solidFill>
                  <a:schemeClr val="bg1"/>
                </a:solidFill>
              </a:rPr>
              <a:t>Eric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Deshcodt</a:t>
            </a:r>
            <a:r>
              <a:rPr lang="fr-FR" dirty="0">
                <a:solidFill>
                  <a:schemeClr val="bg1"/>
                </a:solidFill>
              </a:rPr>
              <a:t> – Directeur pédagogique</a:t>
            </a:r>
          </a:p>
          <a:p>
            <a:pPr lvl="1"/>
            <a:r>
              <a:rPr lang="fr-FR" dirty="0" err="1">
                <a:solidFill>
                  <a:schemeClr val="bg1"/>
                </a:solidFill>
              </a:rPr>
              <a:t>Francois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Ghebari</a:t>
            </a:r>
            <a:r>
              <a:rPr lang="fr-FR" dirty="0">
                <a:solidFill>
                  <a:schemeClr val="bg1"/>
                </a:solidFill>
              </a:rPr>
              <a:t> – </a:t>
            </a:r>
            <a:r>
              <a:rPr lang="fr-FR" dirty="0" err="1">
                <a:solidFill>
                  <a:schemeClr val="bg1"/>
                </a:solidFill>
              </a:rPr>
              <a:t>Directerur</a:t>
            </a:r>
            <a:r>
              <a:rPr lang="fr-FR" dirty="0">
                <a:solidFill>
                  <a:schemeClr val="bg1"/>
                </a:solidFill>
              </a:rPr>
              <a:t> pédagogique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Romaric Moy – Accompagnateur pédagogique </a:t>
            </a:r>
          </a:p>
          <a:p>
            <a:pPr lvl="1"/>
            <a:endParaRPr lang="fr-FR" dirty="0">
              <a:solidFill>
                <a:schemeClr val="bg1"/>
              </a:solidFill>
            </a:endParaRPr>
          </a:p>
          <a:p>
            <a:pPr lvl="1"/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67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A9F137-4B08-A36E-4551-EC2A7AD8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</a:rPr>
              <a:t>Rendu final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0ED8519-0A3B-0A0B-9C63-420782939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2FCACD77-FDB2-69F7-D604-1877BC916615}"/>
              </a:ext>
            </a:extLst>
          </p:cNvPr>
          <p:cNvSpPr/>
          <p:nvPr/>
        </p:nvSpPr>
        <p:spPr>
          <a:xfrm>
            <a:off x="1112760" y="1509951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>
                <a:solidFill>
                  <a:srgbClr val="E5E0DF"/>
                </a:solidFill>
                <a:latin typeface="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300">
              <a:latin typeface="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5A99F90-5A96-AD2A-1FFC-A16BD1DEA9A4}"/>
              </a:ext>
            </a:extLst>
          </p:cNvPr>
          <p:cNvSpPr/>
          <p:nvPr/>
        </p:nvSpPr>
        <p:spPr>
          <a:xfrm>
            <a:off x="1112760" y="1775698"/>
            <a:ext cx="6782732" cy="45719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3998852-8F97-0E95-C32E-C6500661298F}"/>
              </a:ext>
            </a:extLst>
          </p:cNvPr>
          <p:cNvSpPr/>
          <p:nvPr/>
        </p:nvSpPr>
        <p:spPr>
          <a:xfrm>
            <a:off x="1112760" y="1906310"/>
            <a:ext cx="2675334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Prototype Fonctionnel</a:t>
            </a:r>
            <a:endParaRPr lang="en-US" sz="1650">
              <a:latin typeface="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93F2856-62E4-05F9-B40A-2C42ED0BA5B8}"/>
              </a:ext>
            </a:extLst>
          </p:cNvPr>
          <p:cNvSpPr/>
          <p:nvPr/>
        </p:nvSpPr>
        <p:spPr>
          <a:xfrm>
            <a:off x="1112760" y="2248139"/>
            <a:ext cx="7955042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Démonstration interactive de votre solution avec des fonctionnalités clés opérationnelles.</a:t>
            </a:r>
            <a:endParaRPr lang="en-US" sz="1300">
              <a:latin typeface="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8868248-1549-CD2F-DABA-6E6FBC74CC74}"/>
              </a:ext>
            </a:extLst>
          </p:cNvPr>
          <p:cNvSpPr/>
          <p:nvPr/>
        </p:nvSpPr>
        <p:spPr>
          <a:xfrm>
            <a:off x="1112760" y="2740343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>
                <a:solidFill>
                  <a:srgbClr val="E5E0DF"/>
                </a:solidFill>
                <a:latin typeface="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300">
              <a:latin typeface="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B55C8AF-AAD3-A879-CC6B-D11658CE6039}"/>
              </a:ext>
            </a:extLst>
          </p:cNvPr>
          <p:cNvSpPr/>
          <p:nvPr/>
        </p:nvSpPr>
        <p:spPr>
          <a:xfrm>
            <a:off x="1112760" y="3006089"/>
            <a:ext cx="6782732" cy="45719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B7A3B32-9743-9CCE-636C-E04A54F24025}"/>
              </a:ext>
            </a:extLst>
          </p:cNvPr>
          <p:cNvSpPr/>
          <p:nvPr/>
        </p:nvSpPr>
        <p:spPr>
          <a:xfrm>
            <a:off x="1112760" y="3136702"/>
            <a:ext cx="2293144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Présentation Orale</a:t>
            </a:r>
            <a:endParaRPr lang="en-US" sz="1650">
              <a:latin typeface="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24FF906-149C-3BFF-4F71-58FAA70CEAF0}"/>
              </a:ext>
            </a:extLst>
          </p:cNvPr>
          <p:cNvSpPr/>
          <p:nvPr/>
        </p:nvSpPr>
        <p:spPr>
          <a:xfrm>
            <a:off x="1112760" y="3478530"/>
            <a:ext cx="7955042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Pitch de 6 minutes avec </a:t>
            </a:r>
            <a:r>
              <a:rPr lang="en-US" sz="1300" err="1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démonstration</a:t>
            </a:r>
            <a:r>
              <a:rPr lang="en-US" sz="13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 + session Q&amp;A de 6 minutes = 12 minutes au total par équipe.</a:t>
            </a:r>
            <a:endParaRPr lang="en-US" sz="1300">
              <a:latin typeface="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36DD5B5-7977-66A6-113D-A6817F921DDE}"/>
              </a:ext>
            </a:extLst>
          </p:cNvPr>
          <p:cNvSpPr/>
          <p:nvPr/>
        </p:nvSpPr>
        <p:spPr>
          <a:xfrm>
            <a:off x="1112760" y="3970735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>
                <a:solidFill>
                  <a:srgbClr val="E5E0DF"/>
                </a:solidFill>
                <a:latin typeface="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300">
              <a:latin typeface="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56D35D39-6F4D-4F7A-438C-FF3938516BCF}"/>
              </a:ext>
            </a:extLst>
          </p:cNvPr>
          <p:cNvSpPr/>
          <p:nvPr/>
        </p:nvSpPr>
        <p:spPr>
          <a:xfrm>
            <a:off x="1112760" y="4236481"/>
            <a:ext cx="6782732" cy="45719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CCEECEC-1C66-D4E3-FB0B-B7728BF8C8A9}"/>
              </a:ext>
            </a:extLst>
          </p:cNvPr>
          <p:cNvSpPr/>
          <p:nvPr/>
        </p:nvSpPr>
        <p:spPr>
          <a:xfrm>
            <a:off x="1112760" y="4367094"/>
            <a:ext cx="3312319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Support Visuel Obligatoire</a:t>
            </a:r>
            <a:endParaRPr lang="en-US" sz="1650">
              <a:latin typeface="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219DE24-EFA0-AC5D-3255-5BD2709B99AD}"/>
              </a:ext>
            </a:extLst>
          </p:cNvPr>
          <p:cNvSpPr/>
          <p:nvPr/>
        </p:nvSpPr>
        <p:spPr>
          <a:xfrm>
            <a:off x="1112760" y="4708922"/>
            <a:ext cx="7955042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Slides </a:t>
            </a:r>
            <a:r>
              <a:rPr lang="en-US" sz="1300" err="1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professionnels</a:t>
            </a:r>
            <a:r>
              <a:rPr lang="en-US" sz="13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 et démo live pour illustrer votre démarche et résultats.</a:t>
            </a:r>
            <a:endParaRPr lang="en-US" sz="1300">
              <a:latin typeface="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FFE421E-B4FB-9CFE-2B77-A6A6E6F4DAA3}"/>
              </a:ext>
            </a:extLst>
          </p:cNvPr>
          <p:cNvSpPr/>
          <p:nvPr/>
        </p:nvSpPr>
        <p:spPr>
          <a:xfrm>
            <a:off x="1112760" y="5201127"/>
            <a:ext cx="169783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>
                <a:solidFill>
                  <a:srgbClr val="E5E0DF"/>
                </a:solidFill>
                <a:latin typeface="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1300">
              <a:latin typeface="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2540E9F-2469-25C6-0664-95DE767FE995}"/>
              </a:ext>
            </a:extLst>
          </p:cNvPr>
          <p:cNvSpPr/>
          <p:nvPr/>
        </p:nvSpPr>
        <p:spPr>
          <a:xfrm>
            <a:off x="1112760" y="5466873"/>
            <a:ext cx="6782732" cy="45719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F4251EA-5BAA-D182-7D6D-AACB57B49C25}"/>
              </a:ext>
            </a:extLst>
          </p:cNvPr>
          <p:cNvSpPr/>
          <p:nvPr/>
        </p:nvSpPr>
        <p:spPr>
          <a:xfrm>
            <a:off x="1112760" y="5597486"/>
            <a:ext cx="2675334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Critères d'Évaluation</a:t>
            </a:r>
            <a:endParaRPr lang="en-US" sz="1650">
              <a:latin typeface="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D4038C9D-09A1-5515-4324-A48994054653}"/>
              </a:ext>
            </a:extLst>
          </p:cNvPr>
          <p:cNvSpPr/>
          <p:nvPr/>
        </p:nvSpPr>
        <p:spPr>
          <a:xfrm>
            <a:off x="1112760" y="5939314"/>
            <a:ext cx="7955042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Innovation, faisabilité technique, impact potentiel et qualité de l'exécution.</a:t>
            </a:r>
            <a:endParaRPr lang="en-US" sz="1300">
              <a:latin typeface="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8390855-D23F-0693-7E4B-C54FCA79EF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23" name="Image 22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C90265F1-F944-2B45-7F52-682ED99B8F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391041" y="-441119"/>
            <a:ext cx="7772400" cy="6618082"/>
          </a:xfrm>
          <a:prstGeom prst="rect">
            <a:avLst/>
          </a:prstGeom>
        </p:spPr>
      </p:pic>
      <p:pic>
        <p:nvPicPr>
          <p:cNvPr id="24" name="Image 23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488D900F-96C0-FB75-399A-413FF7BACDE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160683" y="740671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11F2AA-E509-0226-6E47-1E68CEC8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Ressources disponibles</a:t>
            </a:r>
            <a:endParaRPr>
              <a:solidFill>
                <a:schemeClr val="bg1"/>
              </a:solidFill>
              <a:latin typeface="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A328F4E-D490-2018-A34C-55540B7F8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Une image contenant motif, carré, Symétrie, art&#10;&#10;Le contenu généré par l’IA peut être incorrect.">
            <a:extLst>
              <a:ext uri="{FF2B5EF4-FFF2-40B4-BE49-F238E27FC236}">
                <a16:creationId xmlns:a16="http://schemas.microsoft.com/office/drawing/2014/main" id="{A92FD066-C44E-C47E-6723-CB375BEE4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376" y="1690688"/>
            <a:ext cx="3747247" cy="374724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5FBAD39-2E41-BC2A-2741-AAEC81F567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9" name="Image 8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C31BB420-2DF1-3DD6-8EA3-26A16CD846A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391041" y="-441119"/>
            <a:ext cx="7772400" cy="6618082"/>
          </a:xfrm>
          <a:prstGeom prst="rect">
            <a:avLst/>
          </a:prstGeom>
        </p:spPr>
      </p:pic>
      <p:pic>
        <p:nvPicPr>
          <p:cNvPr id="10" name="Image 9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35130509-6A41-CBC8-22D7-F1F10AD1E36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-6160683" y="740671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8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EFF09-126D-8DBB-5321-C0E6A974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Planning du week-end</a:t>
            </a:r>
            <a:endParaRPr>
              <a:solidFill>
                <a:schemeClr val="bg1"/>
              </a:solidFill>
              <a:latin typeface="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F2ED0EA-A832-0B35-6E9E-19A3FF5CE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30B1B33-F37E-A5E8-E02C-9622EBB2F5D9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0" cy="476910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697FEF2F-0814-E41A-29D7-64E72B1AA8AC}"/>
              </a:ext>
            </a:extLst>
          </p:cNvPr>
          <p:cNvCxnSpPr>
            <a:cxnSpLocks/>
          </p:cNvCxnSpPr>
          <p:nvPr/>
        </p:nvCxnSpPr>
        <p:spPr>
          <a:xfrm flipH="1">
            <a:off x="4689987" y="1917290"/>
            <a:ext cx="14060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8E9B9A60-7CEF-3DEF-F605-9EB8D841F4C2}"/>
              </a:ext>
            </a:extLst>
          </p:cNvPr>
          <p:cNvCxnSpPr>
            <a:cxnSpLocks/>
          </p:cNvCxnSpPr>
          <p:nvPr/>
        </p:nvCxnSpPr>
        <p:spPr>
          <a:xfrm flipH="1">
            <a:off x="6096000" y="2984090"/>
            <a:ext cx="8926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0108B119-FB8C-AEA8-6EDB-5E4F46509A37}"/>
              </a:ext>
            </a:extLst>
          </p:cNvPr>
          <p:cNvCxnSpPr>
            <a:cxnSpLocks/>
          </p:cNvCxnSpPr>
          <p:nvPr/>
        </p:nvCxnSpPr>
        <p:spPr>
          <a:xfrm flipH="1">
            <a:off x="5203371" y="4024931"/>
            <a:ext cx="8926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EACF1C2E-363D-F8C0-1449-BE744318D6FE}"/>
              </a:ext>
            </a:extLst>
          </p:cNvPr>
          <p:cNvCxnSpPr>
            <a:cxnSpLocks/>
          </p:cNvCxnSpPr>
          <p:nvPr/>
        </p:nvCxnSpPr>
        <p:spPr>
          <a:xfrm flipH="1">
            <a:off x="6096000" y="5109315"/>
            <a:ext cx="6213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 7">
            <a:extLst>
              <a:ext uri="{FF2B5EF4-FFF2-40B4-BE49-F238E27FC236}">
                <a16:creationId xmlns:a16="http://schemas.microsoft.com/office/drawing/2014/main" id="{0D340E7A-90FC-934C-5E9E-E5C2D3538252}"/>
              </a:ext>
            </a:extLst>
          </p:cNvPr>
          <p:cNvSpPr/>
          <p:nvPr/>
        </p:nvSpPr>
        <p:spPr>
          <a:xfrm>
            <a:off x="1862857" y="1725858"/>
            <a:ext cx="272965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Vendredi Soir - 17h00</a:t>
            </a:r>
            <a:endParaRPr lang="en-US" sz="2150">
              <a:latin typeface=""/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E8C56AE6-AE8C-7AE4-6BBB-3BA50E5236D1}"/>
              </a:ext>
            </a:extLst>
          </p:cNvPr>
          <p:cNvSpPr/>
          <p:nvPr/>
        </p:nvSpPr>
        <p:spPr>
          <a:xfrm>
            <a:off x="-17585" y="2202704"/>
            <a:ext cx="4610099" cy="105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Lancement officiel du hackathon et formation express aux outils. Constitution des équipes et première session de brainstorming.</a:t>
            </a:r>
            <a:endParaRPr lang="en-US" sz="1700">
              <a:latin typeface="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5863FC22-5BB3-39E3-19D1-1C30AD65E645}"/>
              </a:ext>
            </a:extLst>
          </p:cNvPr>
          <p:cNvSpPr/>
          <p:nvPr/>
        </p:nvSpPr>
        <p:spPr>
          <a:xfrm>
            <a:off x="7193638" y="2810735"/>
            <a:ext cx="363421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Samedi - Journée Complète</a:t>
            </a:r>
            <a:endParaRPr lang="en-US" sz="2150">
              <a:latin typeface="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9ECC3E2-BF9C-9AEB-78D4-C3C319B09E4E}"/>
              </a:ext>
            </a:extLst>
          </p:cNvPr>
          <p:cNvSpPr/>
          <p:nvPr/>
        </p:nvSpPr>
        <p:spPr>
          <a:xfrm>
            <a:off x="7193637" y="3287580"/>
            <a:ext cx="4742862" cy="105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Travail intense </a:t>
            </a:r>
            <a:r>
              <a:rPr lang="en-US" sz="1700" err="1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en</a:t>
            </a:r>
            <a:r>
              <a:rPr lang="en-US" sz="17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 équipe avec sessions de coaching régulières. Développement des prototypes et itérations rapides.</a:t>
            </a:r>
            <a:endParaRPr lang="en-US" sz="1700">
              <a:latin typeface="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97EFBEED-80C2-BE69-3C71-8A23F08CF3BE}"/>
              </a:ext>
            </a:extLst>
          </p:cNvPr>
          <p:cNvSpPr/>
          <p:nvPr/>
        </p:nvSpPr>
        <p:spPr>
          <a:xfrm>
            <a:off x="2614724" y="3851576"/>
            <a:ext cx="246415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Dimanche 10h00</a:t>
            </a:r>
            <a:endParaRPr lang="en-US" sz="2150">
              <a:latin typeface="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6A128466-E076-C8E6-ED55-71779BD824C6}"/>
              </a:ext>
            </a:extLst>
          </p:cNvPr>
          <p:cNvSpPr/>
          <p:nvPr/>
        </p:nvSpPr>
        <p:spPr>
          <a:xfrm>
            <a:off x="255500" y="4328421"/>
            <a:ext cx="4823375" cy="105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Arrêt du développement technique. Concentration sur la finalisation des démos et la préparation des pitchs jusqu'à midi.</a:t>
            </a:r>
            <a:endParaRPr lang="en-US" sz="1700">
              <a:latin typeface=""/>
            </a:endParaRPr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EE710926-C0F6-E15A-DF13-66A96369CCEA}"/>
              </a:ext>
            </a:extLst>
          </p:cNvPr>
          <p:cNvSpPr/>
          <p:nvPr/>
        </p:nvSpPr>
        <p:spPr>
          <a:xfrm>
            <a:off x="6968319" y="4935960"/>
            <a:ext cx="242301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>
                <a:solidFill>
                  <a:srgbClr val="E5E0DF"/>
                </a:solidFill>
                <a:latin typeface=""/>
                <a:ea typeface="Roboto Mono Medium" pitchFamily="34" charset="-122"/>
                <a:cs typeface="Roboto Mono Medium" pitchFamily="34" charset="-120"/>
              </a:rPr>
              <a:t>Dimanche 13h00</a:t>
            </a:r>
            <a:endParaRPr lang="en-US" sz="2150">
              <a:latin typeface="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4B071F11-65D7-8879-AD48-CE8D0F874C21}"/>
              </a:ext>
            </a:extLst>
          </p:cNvPr>
          <p:cNvSpPr/>
          <p:nvPr/>
        </p:nvSpPr>
        <p:spPr>
          <a:xfrm>
            <a:off x="6968319" y="5412805"/>
            <a:ext cx="4742849" cy="105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E5E0DF"/>
                </a:solidFill>
                <a:latin typeface=""/>
                <a:ea typeface="Roboto" pitchFamily="34" charset="-122"/>
                <a:cs typeface="Roboto" pitchFamily="34" charset="-120"/>
              </a:rPr>
              <a:t>Début des présentations finales avec ordre de passage communiqué. Chaque équipe présente son projet devant le jury.</a:t>
            </a:r>
            <a:endParaRPr lang="en-US" sz="1700">
              <a:latin typeface=""/>
            </a:endParaRP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DA960353-364D-319E-2DEE-590F2F0864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48" name="Image 47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15A80BE3-AAB7-EFA9-B9C7-E1FF6261C3E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391041" y="-441119"/>
            <a:ext cx="7772400" cy="6618082"/>
          </a:xfrm>
          <a:prstGeom prst="rect">
            <a:avLst/>
          </a:prstGeom>
        </p:spPr>
      </p:pic>
      <p:pic>
        <p:nvPicPr>
          <p:cNvPr id="49" name="Image 48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757D6CC5-6839-EEA5-421D-20BC88413C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160683" y="740671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7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CADAB1A-D3FB-9075-D22D-37B0D55F6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886" y="1714325"/>
            <a:ext cx="10668001" cy="4377441"/>
          </a:xfrm>
          <a:ln>
            <a:noFill/>
          </a:ln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sz="2200">
                <a:solidFill>
                  <a:schemeClr val="bg1"/>
                </a:solidFill>
                <a:latin typeface="Helvetica 75 Bold"/>
                <a:ea typeface="Calibri"/>
                <a:cs typeface="Calibri"/>
              </a:rPr>
              <a:t>Objectif</a:t>
            </a:r>
            <a:r>
              <a:rPr lang="fr-FR" sz="2400">
                <a:latin typeface="Helvetica 75 Bold"/>
                <a:ea typeface="Calibri"/>
                <a:cs typeface="Calibri"/>
              </a:rPr>
              <a:t> </a:t>
            </a:r>
            <a:r>
              <a:rPr lang="fr-FR" sz="1900">
                <a:solidFill>
                  <a:schemeClr val="bg1"/>
                </a:solidFill>
                <a:latin typeface="Helvetica 55 Roman"/>
              </a:rPr>
              <a:t>Définir comment l'intelligence artificielle peut aider Orange dans plusieurs scénarios. Cela peut être lié à la gestion de son parc réseau ainsi que à l'accompagnement sur la mise à jour des versions et de ses différentes machines.</a:t>
            </a:r>
          </a:p>
          <a:p>
            <a:pPr marL="0" indent="0">
              <a:lnSpc>
                <a:spcPct val="100000"/>
              </a:lnSpc>
              <a:buNone/>
            </a:pPr>
            <a:endParaRPr lang="fr-FR" sz="1900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fr-FR" sz="1900" u="sng">
                <a:solidFill>
                  <a:schemeClr val="bg1"/>
                </a:solidFill>
                <a:latin typeface="Helvetica 55 Roman"/>
              </a:rPr>
              <a:t>Scénario  : Reprise d'un parc réseau existant pour une AVV</a:t>
            </a:r>
          </a:p>
          <a:p>
            <a:pPr marL="342900" lvl="3" indent="-342900">
              <a:lnSpc>
                <a:spcPct val="100000"/>
              </a:lnSpc>
              <a:spcBef>
                <a:spcPts val="1000"/>
              </a:spcBef>
              <a:buClr>
                <a:srgbClr val="FF7000"/>
              </a:buClr>
              <a:buFont typeface="Wingdings" panose="05000000000000000000" pitchFamily="2" charset="2"/>
              <a:buChar char="v"/>
            </a:pPr>
            <a:r>
              <a:rPr lang="fr-FR" sz="1900">
                <a:solidFill>
                  <a:schemeClr val="bg1"/>
                </a:solidFill>
                <a:latin typeface="Helvetica 55 Roman"/>
              </a:rPr>
              <a:t>Avoir un rapport de fin de vie / fin de support des équipements présents </a:t>
            </a:r>
          </a:p>
          <a:p>
            <a:pPr marL="342900" lvl="3" indent="-342900">
              <a:lnSpc>
                <a:spcPct val="100000"/>
              </a:lnSpc>
              <a:spcBef>
                <a:spcPts val="1000"/>
              </a:spcBef>
              <a:buClr>
                <a:srgbClr val="FF7000"/>
              </a:buClr>
              <a:buFont typeface="Wingdings" panose="05000000000000000000" pitchFamily="2" charset="2"/>
              <a:buChar char="v"/>
            </a:pPr>
            <a:r>
              <a:rPr lang="fr-FR" sz="1900">
                <a:solidFill>
                  <a:schemeClr val="bg1"/>
                </a:solidFill>
                <a:latin typeface="Helvetica 55 Roman"/>
              </a:rPr>
              <a:t>Avoir un rapport de la version maximum possible pouvant être mise à jour sur le parc</a:t>
            </a:r>
          </a:p>
          <a:p>
            <a:pPr marL="342900" lvl="3" indent="-342900">
              <a:lnSpc>
                <a:spcPct val="100000"/>
              </a:lnSpc>
              <a:spcBef>
                <a:spcPts val="1000"/>
              </a:spcBef>
              <a:buClr>
                <a:srgbClr val="FF7000"/>
              </a:buClr>
              <a:buFont typeface="Wingdings" panose="05000000000000000000" pitchFamily="2" charset="2"/>
              <a:buChar char="v"/>
            </a:pPr>
            <a:r>
              <a:rPr lang="fr-FR" sz="1900">
                <a:solidFill>
                  <a:schemeClr val="bg1"/>
                </a:solidFill>
                <a:latin typeface="Helvetica 55 Roman"/>
              </a:rPr>
              <a:t>Avoir le chemin de version pour être à jour sur la dernière version ou une version spécifique choisit par un utilisateur.</a:t>
            </a:r>
          </a:p>
          <a:p>
            <a:pPr marL="342900" lvl="3" indent="-342900">
              <a:lnSpc>
                <a:spcPct val="100000"/>
              </a:lnSpc>
              <a:spcBef>
                <a:spcPts val="1000"/>
              </a:spcBef>
              <a:buClr>
                <a:srgbClr val="FF7000"/>
              </a:buClr>
              <a:buFont typeface="Wingdings" panose="05000000000000000000" pitchFamily="2" charset="2"/>
              <a:buChar char="v"/>
            </a:pPr>
            <a:r>
              <a:rPr lang="fr-FR" sz="1900">
                <a:solidFill>
                  <a:schemeClr val="bg1"/>
                </a:solidFill>
                <a:latin typeface="Helvetica 55 Roman"/>
              </a:rPr>
              <a:t>Prendre en considération les notions de coûts des équipements pour proposer des solutions adaptées pour le client</a:t>
            </a:r>
            <a:endParaRPr lang="fr-FR" sz="1900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pPr marL="342900" lvl="3" indent="-342900">
              <a:lnSpc>
                <a:spcPct val="100000"/>
              </a:lnSpc>
              <a:buClr>
                <a:srgbClr val="FF7000"/>
              </a:buClr>
              <a:buFont typeface="Wingdings" panose="05000000000000000000" pitchFamily="2" charset="2"/>
              <a:buChar char="v"/>
            </a:pPr>
            <a:endParaRPr lang="fr-FR" sz="1900">
              <a:solidFill>
                <a:srgbClr val="FFFFFF"/>
              </a:solidFill>
              <a:latin typeface="Helvetica 55 Roman" panose="02000503040000020004" pitchFamily="34" charset="0"/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endParaRPr lang="fr-FR">
              <a:solidFill>
                <a:srgbClr val="FF7900"/>
              </a:solidFill>
              <a:ea typeface="Calibri"/>
              <a:cs typeface="Calibri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F58BB28-EF61-7BC8-04EF-71584A20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Sujet 1 – SDWAN upgrade parc réseau</a:t>
            </a:r>
            <a:br>
              <a:rPr lang="fr-FR">
                <a:solidFill>
                  <a:schemeClr val="bg1"/>
                </a:solidFill>
                <a:latin typeface=""/>
              </a:rPr>
            </a:br>
            <a:r>
              <a:rPr lang="fr-FR" sz="3100">
                <a:solidFill>
                  <a:srgbClr val="FF7000"/>
                </a:solidFill>
                <a:latin typeface=""/>
              </a:rPr>
              <a:t>Alexandre Aubert / Tanguy Jeanne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6B2C78-7EFC-957F-A007-C4C6FE984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19A4BBD-AC89-B3BC-FD74-A68B867A1B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6" name="Image 5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14239890-0F1A-5524-AB93-0E92B0E67E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701488" y="-320587"/>
            <a:ext cx="7772400" cy="6618082"/>
          </a:xfrm>
          <a:prstGeom prst="rect">
            <a:avLst/>
          </a:prstGeom>
        </p:spPr>
      </p:pic>
      <p:pic>
        <p:nvPicPr>
          <p:cNvPr id="7" name="Image 6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A1DC89C3-A29A-57AC-142F-0EB9C344024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7012514" y="762002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75E2A-C5DB-9F8E-A8AF-E453F668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C49FE1E-C0EB-9DF5-261E-FC335809E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886" y="1714325"/>
            <a:ext cx="10668001" cy="4377441"/>
          </a:xfrm>
          <a:ln>
            <a:noFill/>
          </a:ln>
        </p:spPr>
        <p:txBody>
          <a:bodyPr vert="horz" lIns="0" tIns="0" rIns="0" bIns="0" rtlCol="0" anchor="t">
            <a:noAutofit/>
          </a:bodyPr>
          <a:lstStyle/>
          <a:p>
            <a:pPr marL="542925" lvl="3" indent="0">
              <a:buNone/>
            </a:pPr>
            <a:endParaRPr lang="fr-FR" sz="1450">
              <a:solidFill>
                <a:schemeClr val="bg1"/>
              </a:solidFill>
              <a:latin typeface="Helvetica 55 Roman"/>
              <a:ea typeface="Calibri"/>
              <a:cs typeface="Calibri"/>
            </a:endParaRPr>
          </a:p>
          <a:p>
            <a:pPr marL="0" lvl="3" indent="0">
              <a:spcBef>
                <a:spcPts val="1000"/>
              </a:spcBef>
              <a:buNone/>
            </a:pPr>
            <a:r>
              <a:rPr lang="fr-FR" sz="2200" u="sng">
                <a:solidFill>
                  <a:schemeClr val="bg1"/>
                </a:solidFill>
                <a:latin typeface="Helvetica 75 Bold"/>
              </a:rPr>
              <a:t>Prérequis techniques: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 sz="1900">
                <a:solidFill>
                  <a:schemeClr val="bg1"/>
                </a:solidFill>
                <a:latin typeface="Helvetica 55 Roman"/>
              </a:rPr>
              <a:t>Utilisation de </a:t>
            </a:r>
            <a:r>
              <a:rPr lang="fr-FR" sz="1900" err="1">
                <a:solidFill>
                  <a:schemeClr val="bg1"/>
                </a:solidFill>
                <a:latin typeface="Helvetica 55 Roman"/>
              </a:rPr>
              <a:t>Grok</a:t>
            </a:r>
            <a:r>
              <a:rPr lang="fr-FR" sz="1900">
                <a:solidFill>
                  <a:schemeClr val="bg1"/>
                </a:solidFill>
                <a:latin typeface="Helvetica 55 Roman"/>
              </a:rPr>
              <a:t> (LLM gratuit). Possibilité d'utiliser aussi </a:t>
            </a:r>
            <a:r>
              <a:rPr lang="fr-FR" sz="1900" err="1">
                <a:solidFill>
                  <a:schemeClr val="bg1"/>
                </a:solidFill>
                <a:latin typeface="Helvetica 55 Roman"/>
              </a:rPr>
              <a:t>Ollama</a:t>
            </a:r>
            <a:r>
              <a:rPr lang="fr-FR" sz="1900">
                <a:solidFill>
                  <a:schemeClr val="bg1"/>
                </a:solidFill>
                <a:latin typeface="Helvetica 55 Roman"/>
              </a:rPr>
              <a:t> (si les ressources de vos PC sont suffisantes) 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endParaRPr lang="fr-FR" sz="2200">
              <a:solidFill>
                <a:schemeClr val="bg1"/>
              </a:solidFill>
              <a:latin typeface="Helvetica 55 Roman" panose="02000503040000020004" pitchFamily="34" charset="0"/>
              <a:ea typeface="Calibri"/>
              <a:cs typeface="Calibri"/>
            </a:endParaRPr>
          </a:p>
          <a:p>
            <a:pPr marL="457200" lvl="1" indent="0">
              <a:buClr>
                <a:srgbClr val="FF7900"/>
              </a:buClr>
              <a:buSzPct val="100000"/>
              <a:buNone/>
            </a:pPr>
            <a:endParaRPr lang="fr-FR">
              <a:solidFill>
                <a:srgbClr val="FF79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fr-FR" sz="2200" u="sng">
                <a:solidFill>
                  <a:schemeClr val="bg1"/>
                </a:solidFill>
                <a:latin typeface="Helvetica 75 Bold"/>
              </a:rPr>
              <a:t>Démo souhaitée : 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900">
                <a:solidFill>
                  <a:schemeClr val="bg1"/>
                </a:solidFill>
                <a:latin typeface="Helvetica 55 Roman"/>
              </a:rPr>
              <a:t>Une UI permettant d'afficher les résultats attendus des différents scénarios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1900">
                <a:solidFill>
                  <a:schemeClr val="bg1"/>
                </a:solidFill>
                <a:latin typeface="Helvetica 55 Roman"/>
              </a:rPr>
              <a:t>Une liste de question sera posée lors de la démo pour en vérifier la véracité des réponses</a:t>
            </a:r>
          </a:p>
          <a:p>
            <a:pPr marL="923925" lvl="3" indent="-380365">
              <a:buFont typeface="Wingdings" panose="020F0502020204030204" pitchFamily="34" charset="0"/>
              <a:buChar char="v"/>
            </a:pPr>
            <a:endParaRPr lang="fr-FR">
              <a:solidFill>
                <a:srgbClr val="FFFFFF"/>
              </a:solidFill>
              <a:latin typeface="Helvetica 75 Bold"/>
              <a:ea typeface="Calibri"/>
              <a:cs typeface="Calibri"/>
            </a:endParaRPr>
          </a:p>
          <a:p>
            <a:pPr marL="923925" lvl="3" indent="-380365">
              <a:buFont typeface="Wingdings" panose="020F0502020204030204" pitchFamily="34" charset="0"/>
              <a:buChar char="v"/>
            </a:pPr>
            <a:endParaRPr lang="fr-FR">
              <a:solidFill>
                <a:srgbClr val="FFFFFF"/>
              </a:solidFill>
              <a:latin typeface="Helvetica 75 Bold"/>
              <a:ea typeface="Calibri"/>
              <a:cs typeface="Calibri"/>
            </a:endParaRPr>
          </a:p>
          <a:p>
            <a:pPr marL="923925" lvl="3" indent="-380365">
              <a:buFont typeface="Wingdings" panose="020F0502020204030204" pitchFamily="34" charset="0"/>
              <a:buChar char="v"/>
            </a:pPr>
            <a:endParaRPr lang="fr-FR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endParaRPr lang="fr-FR">
              <a:solidFill>
                <a:srgbClr val="FF7900"/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endParaRPr lang="fr-FR">
              <a:solidFill>
                <a:srgbClr val="FF7900"/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endParaRPr lang="fr-FR">
              <a:solidFill>
                <a:srgbClr val="FF7900"/>
              </a:solidFill>
              <a:latin typeface="Calibri"/>
              <a:ea typeface="Calibri"/>
              <a:cs typeface="Calibri"/>
            </a:endParaRPr>
          </a:p>
          <a:p>
            <a:pPr marL="923925" lvl="3" indent="-380365">
              <a:buFont typeface="Wingdings" panose="020B0604020202020204" pitchFamily="34" charset="0"/>
              <a:buChar char="v"/>
            </a:pPr>
            <a:endParaRPr lang="fr-FR" sz="1600">
              <a:solidFill>
                <a:srgbClr val="FFFFFF"/>
              </a:solidFill>
              <a:latin typeface="Helvetica 75 Bold"/>
              <a:ea typeface="Calibri"/>
              <a:cs typeface="Calibri"/>
            </a:endParaRPr>
          </a:p>
          <a:p>
            <a:pPr marL="793115" lvl="4" indent="-252730">
              <a:buClr>
                <a:srgbClr val="FFFFFF"/>
              </a:buClr>
              <a:buFont typeface="Courier New" panose="020B0604020202020204" pitchFamily="34" charset="0"/>
              <a:buChar char="o"/>
            </a:pPr>
            <a:endParaRPr lang="fr-FR">
              <a:solidFill>
                <a:srgbClr val="FF7900"/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endParaRPr lang="fr-FR">
              <a:solidFill>
                <a:srgbClr val="FF7900"/>
              </a:solidFill>
              <a:ea typeface="Calibri"/>
              <a:cs typeface="Calibri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38F6711-76F1-D762-A05F-F5936D8F9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Sujet 1 – SDWAN upgrade parc réseau</a:t>
            </a:r>
            <a:br>
              <a:rPr lang="fr-FR">
                <a:solidFill>
                  <a:schemeClr val="bg1"/>
                </a:solidFill>
                <a:latin typeface=""/>
              </a:rPr>
            </a:br>
            <a:r>
              <a:rPr lang="fr-FR" sz="3100">
                <a:solidFill>
                  <a:srgbClr val="FF7000"/>
                </a:solidFill>
                <a:latin typeface=""/>
              </a:rPr>
              <a:t>Alexandre Aubert / Tanguy Jeanne</a:t>
            </a:r>
            <a:endParaRPr lang="fr-FR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F798225-B2CD-4BD1-58A9-C3DC8BF52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57B9683-A6F3-C0C8-3237-70124F4F9E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6" name="Image 5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58FABCFC-752D-1ABE-6EA4-3EC313A8074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839252" y="-279573"/>
            <a:ext cx="7772400" cy="6618082"/>
          </a:xfrm>
          <a:prstGeom prst="rect">
            <a:avLst/>
          </a:prstGeom>
        </p:spPr>
      </p:pic>
      <p:pic>
        <p:nvPicPr>
          <p:cNvPr id="7" name="Image 6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9BC795A5-C37F-1088-21EA-634992BDDCC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693021" y="782234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5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6AF89-F4C3-16C2-6077-614AFAD9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Sujet 2 – </a:t>
            </a:r>
            <a:r>
              <a:rPr lang="fr-FR" err="1">
                <a:solidFill>
                  <a:schemeClr val="bg1"/>
                </a:solidFill>
                <a:latin typeface=""/>
              </a:rPr>
              <a:t>Ontology</a:t>
            </a:r>
            <a:br>
              <a:rPr lang="fr-FR">
                <a:solidFill>
                  <a:schemeClr val="bg1"/>
                </a:solidFill>
                <a:latin typeface=""/>
              </a:rPr>
            </a:br>
            <a:r>
              <a:rPr lang="fr-FR" sz="2800">
                <a:solidFill>
                  <a:srgbClr val="FF7000"/>
                </a:solidFill>
                <a:latin typeface=""/>
              </a:rPr>
              <a:t>Enzo Pascallon</a:t>
            </a:r>
            <a:endParaRPr sz="2800">
              <a:solidFill>
                <a:srgbClr val="FF7000"/>
              </a:solidFill>
              <a:latin typeface="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DF99357-BED6-EA8B-2C11-E181196C8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2A4C87-AF4B-64F6-50F5-4FAC5B6997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7" name="Image 6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CFB21753-70FF-AEEE-0445-1B00735ABA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499518" y="-175664"/>
            <a:ext cx="7772400" cy="6618082"/>
          </a:xfrm>
          <a:prstGeom prst="rect">
            <a:avLst/>
          </a:prstGeom>
        </p:spPr>
      </p:pic>
      <p:pic>
        <p:nvPicPr>
          <p:cNvPr id="8" name="Image 7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CAFD9243-2BA4-6E46-BC39-6B95524E075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693021" y="782234"/>
            <a:ext cx="7772400" cy="6618082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50D232-5E3B-E7F1-976E-FCF813733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7071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b="1">
                <a:solidFill>
                  <a:schemeClr val="bg1"/>
                </a:solidFill>
              </a:rPr>
              <a:t>Objectif</a:t>
            </a:r>
            <a:r>
              <a:rPr lang="fr-FR">
                <a:solidFill>
                  <a:schemeClr val="bg1"/>
                </a:solidFill>
              </a:rPr>
              <a:t>: </a:t>
            </a:r>
            <a:r>
              <a:rPr lang="fr-FR" sz="2400">
                <a:solidFill>
                  <a:schemeClr val="bg1"/>
                </a:solidFill>
                <a:latin typeface="Helvetica 55 Roman" panose="02000503040000020004" pitchFamily="34" charset="0"/>
              </a:rPr>
              <a:t>Construire un espace d’</a:t>
            </a:r>
            <a:r>
              <a:rPr lang="fr-FR" sz="2400" err="1">
                <a:solidFill>
                  <a:schemeClr val="bg1"/>
                </a:solidFill>
                <a:latin typeface="Helvetica 55 Roman" panose="02000503040000020004" pitchFamily="34" charset="0"/>
              </a:rPr>
              <a:t>embeddings</a:t>
            </a:r>
            <a:r>
              <a:rPr lang="fr-FR" sz="2400">
                <a:solidFill>
                  <a:schemeClr val="bg1"/>
                </a:solidFill>
                <a:latin typeface="Helvetica 55 Roman" panose="02000503040000020004" pitchFamily="34" charset="0"/>
              </a:rPr>
              <a:t> compact, cohérent et mesuré — en éliminant redondance et bruit, en structurant les relations (graphes) et en optimisant les appels LLM via recuit simulé et seuil de similarité — afin de fournir un </a:t>
            </a:r>
            <a:r>
              <a:rPr lang="fr-FR" sz="2400" err="1">
                <a:solidFill>
                  <a:schemeClr val="bg1"/>
                </a:solidFill>
                <a:latin typeface="Helvetica 55 Roman" panose="02000503040000020004" pitchFamily="34" charset="0"/>
              </a:rPr>
              <a:t>dataset</a:t>
            </a:r>
            <a:r>
              <a:rPr lang="fr-FR" sz="2400">
                <a:solidFill>
                  <a:schemeClr val="bg1"/>
                </a:solidFill>
                <a:latin typeface="Helvetica 55 Roman" panose="02000503040000020004" pitchFamily="34" charset="0"/>
              </a:rPr>
              <a:t> efficace et directement exploitable.</a:t>
            </a:r>
          </a:p>
          <a:p>
            <a:pPr marL="0" indent="0">
              <a:lnSpc>
                <a:spcPct val="120000"/>
              </a:lnSpc>
              <a:buNone/>
            </a:pPr>
            <a:endParaRPr lang="fr-FR" sz="2400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pPr marL="0" indent="0">
              <a:buNone/>
            </a:pPr>
            <a:r>
              <a:rPr lang="fr-FR" sz="2400" b="1">
                <a:solidFill>
                  <a:schemeClr val="bg1"/>
                </a:solidFill>
                <a:latin typeface="Helvetica 55 Roman" panose="02000503040000020004" pitchFamily="34" charset="0"/>
              </a:rPr>
              <a:t>IA et software (</a:t>
            </a:r>
            <a:r>
              <a:rPr lang="fr-FR" sz="2400" b="1" err="1">
                <a:solidFill>
                  <a:schemeClr val="bg1"/>
                </a:solidFill>
                <a:latin typeface="Helvetica 55 Roman" panose="02000503040000020004" pitchFamily="34" charset="0"/>
              </a:rPr>
              <a:t>embeddings</a:t>
            </a:r>
            <a:r>
              <a:rPr lang="fr-FR" sz="2400" b="1">
                <a:solidFill>
                  <a:schemeClr val="bg1"/>
                </a:solidFill>
                <a:latin typeface="Helvetica 55 Roman" panose="02000503040000020004" pitchFamily="34" charset="0"/>
              </a:rPr>
              <a:t> et appels LLM) Contexte Fichier de 1000 lignes: vecteurs d’</a:t>
            </a:r>
            <a:r>
              <a:rPr lang="fr-FR" sz="2400" b="1" err="1">
                <a:solidFill>
                  <a:schemeClr val="bg1"/>
                </a:solidFill>
                <a:latin typeface="Helvetica 55 Roman" panose="02000503040000020004" pitchFamily="34" charset="0"/>
              </a:rPr>
              <a:t>embedding</a:t>
            </a:r>
            <a:r>
              <a:rPr lang="fr-FR" sz="2400" b="1">
                <a:solidFill>
                  <a:schemeClr val="bg1"/>
                </a:solidFill>
                <a:latin typeface="Helvetica 55 Roman" panose="02000503040000020004" pitchFamily="34" charset="0"/>
              </a:rPr>
              <a:t> + mot-clé associé.</a:t>
            </a:r>
          </a:p>
          <a:p>
            <a:pPr marL="285750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v"/>
            </a:pPr>
            <a:r>
              <a:rPr lang="fr-FR" sz="2400">
                <a:solidFill>
                  <a:schemeClr val="bg1"/>
                </a:solidFill>
                <a:latin typeface="Helvetica 55 Roman" panose="02000503040000020004" pitchFamily="34" charset="0"/>
              </a:rPr>
              <a:t>Eviter redondance et bruit : dédoublonnage, regroupements/généralisation, graphes de relations entre vecteurs plutôt que traitements unitaires. S’inspirer de la référence fournie (DBKSVD / K‑SVD – lien communiqué) pour repérer symétries/composantes.</a:t>
            </a:r>
          </a:p>
          <a:p>
            <a:pPr marL="285750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v"/>
            </a:pPr>
            <a:r>
              <a:rPr lang="fr-FR" sz="2400">
                <a:solidFill>
                  <a:schemeClr val="bg1"/>
                </a:solidFill>
                <a:latin typeface="Helvetica 55 Roman" panose="02000503040000020004" pitchFamily="34" charset="0"/>
              </a:rPr>
              <a:t>Optimiser les appels d’</a:t>
            </a:r>
            <a:r>
              <a:rPr lang="fr-FR" sz="2400" err="1">
                <a:solidFill>
                  <a:schemeClr val="bg1"/>
                </a:solidFill>
                <a:latin typeface="Helvetica 55 Roman" panose="02000503040000020004" pitchFamily="34" charset="0"/>
              </a:rPr>
              <a:t>embedding</a:t>
            </a:r>
            <a:r>
              <a:rPr lang="fr-FR" sz="2400">
                <a:solidFill>
                  <a:schemeClr val="bg1"/>
                </a:solidFill>
                <a:latin typeface="Helvetica 55 Roman" panose="02000503040000020004" pitchFamily="34" charset="0"/>
              </a:rPr>
              <a:t>/LLM par “recuit simulé” et seuil de similarité: maintenir une distance minimale entre vecteurs pour éviter les appels redondants; prioriser l’</a:t>
            </a:r>
            <a:r>
              <a:rPr lang="fr-FR" sz="2400" err="1">
                <a:solidFill>
                  <a:schemeClr val="bg1"/>
                </a:solidFill>
                <a:latin typeface="Helvetica 55 Roman" panose="02000503040000020004" pitchFamily="34" charset="0"/>
              </a:rPr>
              <a:t>embedder</a:t>
            </a:r>
            <a:r>
              <a:rPr lang="fr-FR" sz="2400">
                <a:solidFill>
                  <a:schemeClr val="bg1"/>
                </a:solidFill>
                <a:latin typeface="Helvetica 55 Roman" panose="02000503040000020004" pitchFamily="34" charset="0"/>
              </a:rPr>
              <a:t> local.</a:t>
            </a:r>
          </a:p>
          <a:p>
            <a:pPr marL="285750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v"/>
            </a:pPr>
            <a:r>
              <a:rPr lang="fr-FR" sz="2400">
                <a:solidFill>
                  <a:schemeClr val="bg1"/>
                </a:solidFill>
                <a:latin typeface="Helvetica 55 Roman" panose="02000503040000020004" pitchFamily="34" charset="0"/>
              </a:rPr>
              <a:t>Qualifier l’espace vectoriel: métriques d’harmonie/clusters (distance min/moyenne, silhouette score, nb de clusters) pour valider l’utilisabilité.</a:t>
            </a:r>
          </a:p>
          <a:p>
            <a:pPr marL="0" indent="0">
              <a:lnSpc>
                <a:spcPct val="120000"/>
              </a:lnSpc>
              <a:buNone/>
            </a:pPr>
            <a:endParaRPr lang="fr-FR" sz="2600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endParaRPr lang="fr-FR">
              <a:latin typeface="Helvetica 55 Roman" panose="02000503040000020004" pitchFamily="34" charset="0"/>
            </a:endParaRPr>
          </a:p>
          <a:p>
            <a:endParaRPr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666165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2FF87-D8C0-AD80-3CC4-E1696FA0B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92FCD8-3855-565B-2273-7BADB8571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Sujet 2 – </a:t>
            </a:r>
            <a:r>
              <a:rPr lang="fr-FR" err="1">
                <a:solidFill>
                  <a:schemeClr val="bg1"/>
                </a:solidFill>
                <a:latin typeface=""/>
              </a:rPr>
              <a:t>Ontology</a:t>
            </a:r>
            <a:br>
              <a:rPr lang="fr-FR">
                <a:solidFill>
                  <a:schemeClr val="bg1"/>
                </a:solidFill>
                <a:latin typeface=""/>
              </a:rPr>
            </a:br>
            <a:r>
              <a:rPr lang="fr-FR" sz="2800">
                <a:solidFill>
                  <a:srgbClr val="FF7000"/>
                </a:solidFill>
                <a:latin typeface=""/>
              </a:rPr>
              <a:t>Enzo Pascallon</a:t>
            </a:r>
            <a:endParaRPr sz="2800">
              <a:solidFill>
                <a:srgbClr val="FF7000"/>
              </a:solidFill>
              <a:latin typeface="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0942BD1-8176-DF6B-81B8-05A2DFE7E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7AB78C5-2B52-1EE3-EEA8-EBB5EACE5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7" name="Image 6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FA8B3B15-9513-AC50-C917-2338CA09332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499518" y="-175664"/>
            <a:ext cx="7772400" cy="6618082"/>
          </a:xfrm>
          <a:prstGeom prst="rect">
            <a:avLst/>
          </a:prstGeom>
        </p:spPr>
      </p:pic>
      <p:pic>
        <p:nvPicPr>
          <p:cNvPr id="8" name="Image 7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BDBBC5D8-2931-A2CB-3A68-4038CF11037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693021" y="782234"/>
            <a:ext cx="7772400" cy="6618082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A09357-8745-5606-3181-FA3B9E0E0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u="sng">
                <a:solidFill>
                  <a:schemeClr val="bg1"/>
                </a:solidFill>
                <a:latin typeface="Helvetica 55 Roman" panose="02000503040000020004" pitchFamily="34" charset="0"/>
              </a:rPr>
              <a:t>Prérequis techniques: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Installer </a:t>
            </a:r>
            <a:r>
              <a:rPr lang="fr-FR" sz="2200" err="1">
                <a:solidFill>
                  <a:schemeClr val="bg1"/>
                </a:solidFill>
                <a:latin typeface="Helvetica 55 Roman" panose="02000503040000020004" pitchFamily="34" charset="0"/>
              </a:rPr>
              <a:t>Ollama</a:t>
            </a: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 pour traitement en local (plan B utiliser </a:t>
            </a:r>
            <a:r>
              <a:rPr lang="fr-FR" sz="2200" err="1">
                <a:solidFill>
                  <a:schemeClr val="bg1"/>
                </a:solidFill>
                <a:latin typeface="Helvetica 55 Roman" panose="02000503040000020004" pitchFamily="34" charset="0"/>
              </a:rPr>
              <a:t>Groq</a:t>
            </a: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)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Comprendre ce qu’est un </a:t>
            </a:r>
            <a:r>
              <a:rPr lang="fr-FR" sz="2200" err="1">
                <a:solidFill>
                  <a:schemeClr val="bg1"/>
                </a:solidFill>
                <a:latin typeface="Helvetica 55 Roman" panose="02000503040000020004" pitchFamily="34" charset="0"/>
              </a:rPr>
              <a:t>chunker</a:t>
            </a:r>
            <a:endParaRPr lang="fr-FR" sz="2200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Installer </a:t>
            </a:r>
            <a:r>
              <a:rPr lang="fr-FR" sz="2200" err="1">
                <a:solidFill>
                  <a:schemeClr val="bg1"/>
                </a:solidFill>
                <a:latin typeface="Helvetica 55 Roman" panose="02000503040000020004" pitchFamily="34" charset="0"/>
              </a:rPr>
              <a:t>Spacy</a:t>
            </a: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 pour créer les </a:t>
            </a:r>
            <a:r>
              <a:rPr lang="fr-FR" sz="2200" err="1">
                <a:solidFill>
                  <a:schemeClr val="bg1"/>
                </a:solidFill>
                <a:latin typeface="Helvetica 55 Roman" panose="02000503040000020004" pitchFamily="34" charset="0"/>
              </a:rPr>
              <a:t>embeddings</a:t>
            </a:r>
            <a:endParaRPr lang="fr-FR" sz="2200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Installer </a:t>
            </a:r>
            <a:r>
              <a:rPr lang="fr-FR" sz="2200" err="1">
                <a:solidFill>
                  <a:schemeClr val="bg1"/>
                </a:solidFill>
                <a:latin typeface="Helvetica 55 Roman" panose="02000503040000020004" pitchFamily="34" charset="0"/>
              </a:rPr>
              <a:t>Weaviate</a:t>
            </a:r>
            <a:endParaRPr lang="fr-FR" sz="2200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Environnement Linux (ex. Debian sous WSL acceptable)</a:t>
            </a:r>
          </a:p>
          <a:p>
            <a:pPr>
              <a:buClr>
                <a:srgbClr val="FF7900"/>
              </a:buClr>
              <a:buSzPct val="100000"/>
            </a:pPr>
            <a:endParaRPr lang="fr-FR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pPr marL="0" indent="0">
              <a:buClr>
                <a:srgbClr val="FF7900"/>
              </a:buClr>
              <a:buSzPct val="100000"/>
              <a:buNone/>
            </a:pPr>
            <a:r>
              <a:rPr lang="fr-FR" u="sng">
                <a:solidFill>
                  <a:schemeClr val="bg1"/>
                </a:solidFill>
                <a:latin typeface="Helvetica 55 Roman" panose="02000503040000020004" pitchFamily="34" charset="0"/>
              </a:rPr>
              <a:t>Livrables attendus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Notebook reproductible + pipeline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Visualisations (2D) et métriques clés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Guide “quand appeler l’</a:t>
            </a:r>
            <a:r>
              <a:rPr lang="fr-FR" sz="2200" err="1">
                <a:solidFill>
                  <a:schemeClr val="bg1"/>
                </a:solidFill>
                <a:latin typeface="Helvetica 55 Roman" panose="02000503040000020004" pitchFamily="34" charset="0"/>
              </a:rPr>
              <a:t>embedder</a:t>
            </a:r>
            <a:r>
              <a:rPr lang="fr-FR" sz="2200">
                <a:solidFill>
                  <a:schemeClr val="bg1"/>
                </a:solidFill>
                <a:latin typeface="Helvetica 55 Roman" panose="02000503040000020004" pitchFamily="34" charset="0"/>
              </a:rPr>
              <a:t>/LLM, quand s’abstenir”</a:t>
            </a:r>
          </a:p>
          <a:p>
            <a:endParaRPr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326970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7E448E-99D0-27B5-238A-212A6923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Sujet 3 </a:t>
            </a:r>
            <a:r>
              <a:rPr lang="fr-FR">
                <a:solidFill>
                  <a:schemeClr val="bg1"/>
                </a:solidFill>
              </a:rPr>
              <a:t>– Optimisation CPU</a:t>
            </a:r>
            <a:br>
              <a:rPr lang="fr-FR">
                <a:solidFill>
                  <a:schemeClr val="bg1"/>
                </a:solidFill>
              </a:rPr>
            </a:br>
            <a:r>
              <a:rPr lang="fr-FR" sz="2800">
                <a:solidFill>
                  <a:srgbClr val="FF7000"/>
                </a:solidFill>
              </a:rPr>
              <a:t>Alexis Langlade / </a:t>
            </a:r>
            <a:r>
              <a:rPr lang="fr-FR" sz="2800" err="1">
                <a:solidFill>
                  <a:srgbClr val="FF7000"/>
                </a:solidFill>
              </a:rPr>
              <a:t>Jéremy</a:t>
            </a:r>
            <a:r>
              <a:rPr lang="fr-FR" sz="2800">
                <a:solidFill>
                  <a:srgbClr val="FF7000"/>
                </a:solidFill>
              </a:rPr>
              <a:t> Lemaire</a:t>
            </a:r>
            <a:endParaRPr sz="2800">
              <a:solidFill>
                <a:srgbClr val="FF7000"/>
              </a:solidFill>
              <a:latin typeface="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E5A212-BBB0-7096-D202-E2A8DF46F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>
                <a:solidFill>
                  <a:schemeClr val="bg1"/>
                </a:solidFill>
                <a:latin typeface="Helvetica 75 Bold"/>
              </a:rPr>
              <a:t>Objectif: </a:t>
            </a:r>
            <a:r>
              <a:rPr lang="fr-FR" sz="2600">
                <a:solidFill>
                  <a:schemeClr val="bg1"/>
                </a:solidFill>
                <a:latin typeface="Helvetica 55 Roman"/>
              </a:rPr>
              <a:t>explorer et démontrer des gains de performance et d’efficacité (calcul, énergie) du poste développeur jusqu’à l’IA, avec instrumentation et mesures fiables.</a:t>
            </a:r>
            <a:br>
              <a:rPr lang="fr-FR" sz="2600">
                <a:solidFill>
                  <a:schemeClr val="bg1"/>
                </a:solidFill>
                <a:latin typeface="Helvetica 55 Roman"/>
              </a:rPr>
            </a:br>
            <a:endParaRPr lang="fr-FR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pPr marL="0" indent="0">
              <a:buNone/>
            </a:pPr>
            <a:r>
              <a:rPr lang="fr-FR" b="1">
                <a:solidFill>
                  <a:schemeClr val="bg1"/>
                </a:solidFill>
                <a:latin typeface="Helvetica 55 Roman" panose="02000503040000020004" pitchFamily="34" charset="0"/>
              </a:rPr>
              <a:t>Optimisation machine (bas niveau)</a:t>
            </a:r>
          </a:p>
          <a:p>
            <a:pPr marL="285750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v"/>
            </a:pPr>
            <a:r>
              <a:rPr lang="fr-FR" sz="2600">
                <a:solidFill>
                  <a:schemeClr val="bg1"/>
                </a:solidFill>
                <a:latin typeface="Helvetica 55 Roman" panose="02000503040000020004" pitchFamily="34" charset="0"/>
              </a:rPr>
              <a:t>Impact du langage sur un calcul intensif: comparer Python, C++, Perl, Rust, Java sur un calcul de cosinus pair‑à‑pair (fichier </a:t>
            </a:r>
            <a:r>
              <a:rPr lang="fr-FR" sz="2600" err="1">
                <a:solidFill>
                  <a:schemeClr val="bg1"/>
                </a:solidFill>
                <a:latin typeface="Helvetica 55 Roman" panose="02000503040000020004" pitchFamily="34" charset="0"/>
              </a:rPr>
              <a:t>vectors‑RDO.json</a:t>
            </a:r>
            <a:r>
              <a:rPr lang="fr-FR" sz="2600">
                <a:solidFill>
                  <a:schemeClr val="bg1"/>
                </a:solidFill>
                <a:latin typeface="Helvetica 55 Roman" panose="02000503040000020004" pitchFamily="34" charset="0"/>
              </a:rPr>
              <a:t>; ≈ très grand nombre d’opérations). Mesurer temps, conso CPU/RAM, I/O.</a:t>
            </a:r>
          </a:p>
          <a:p>
            <a:pPr marL="285750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v"/>
            </a:pPr>
            <a:r>
              <a:rPr lang="fr-FR" sz="2600">
                <a:solidFill>
                  <a:schemeClr val="bg1"/>
                </a:solidFill>
                <a:latin typeface="Helvetica 55 Roman" panose="02000503040000020004" pitchFamily="34" charset="0"/>
              </a:rPr>
              <a:t>Impact du mode BIOS: instrumenter avec </a:t>
            </a:r>
            <a:r>
              <a:rPr lang="fr-FR" sz="2600" err="1">
                <a:solidFill>
                  <a:schemeClr val="bg1"/>
                </a:solidFill>
                <a:latin typeface="Helvetica 55 Roman" panose="02000503040000020004" pitchFamily="34" charset="0"/>
              </a:rPr>
              <a:t>eBPF</a:t>
            </a:r>
            <a:r>
              <a:rPr lang="fr-FR" sz="2600">
                <a:solidFill>
                  <a:schemeClr val="bg1"/>
                </a:solidFill>
                <a:latin typeface="Helvetica 55 Roman" panose="02000503040000020004" pitchFamily="34" charset="0"/>
              </a:rPr>
              <a:t> + </a:t>
            </a:r>
            <a:r>
              <a:rPr lang="fr-FR" sz="2600" err="1">
                <a:solidFill>
                  <a:schemeClr val="bg1"/>
                </a:solidFill>
                <a:latin typeface="Helvetica 55 Roman" panose="02000503040000020004" pitchFamily="34" charset="0"/>
              </a:rPr>
              <a:t>Netdata</a:t>
            </a:r>
            <a:r>
              <a:rPr lang="fr-FR" sz="2600">
                <a:solidFill>
                  <a:schemeClr val="bg1"/>
                </a:solidFill>
                <a:latin typeface="Helvetica 55 Roman" panose="02000503040000020004" pitchFamily="34" charset="0"/>
              </a:rPr>
              <a:t> pour voir où se concentre la charge et l’effet des modes “éco/perf”.</a:t>
            </a:r>
          </a:p>
          <a:p>
            <a:pPr marL="285750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v"/>
            </a:pPr>
            <a:r>
              <a:rPr lang="fr-FR" sz="2600">
                <a:solidFill>
                  <a:schemeClr val="bg1"/>
                </a:solidFill>
                <a:latin typeface="Helvetica 55 Roman" panose="02000503040000020004" pitchFamily="34" charset="0"/>
              </a:rPr>
              <a:t>Performance vs énergie: donner la puissance au bon composant (gouverneurs CPU, affinité, paramètres d’économie) tout en conservant le </a:t>
            </a:r>
            <a:r>
              <a:rPr lang="fr-FR" sz="2600" err="1">
                <a:solidFill>
                  <a:schemeClr val="bg1"/>
                </a:solidFill>
                <a:latin typeface="Helvetica 55 Roman" panose="02000503040000020004" pitchFamily="34" charset="0"/>
              </a:rPr>
              <a:t>throughput</a:t>
            </a:r>
            <a:r>
              <a:rPr lang="fr-FR" sz="2600">
                <a:solidFill>
                  <a:schemeClr val="bg1"/>
                </a:solidFill>
                <a:latin typeface="Helvetica 55 Roman" panose="02000503040000020004" pitchFamily="34" charset="0"/>
              </a:rPr>
              <a:t>; documenter les compromis.</a:t>
            </a:r>
          </a:p>
          <a:p>
            <a:pPr marL="0" indent="0">
              <a:buNone/>
            </a:pPr>
            <a:endParaRPr>
              <a:solidFill>
                <a:schemeClr val="bg1"/>
              </a:solidFill>
              <a:latin typeface="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FF643BD-0FF7-B296-CC42-2D17153EA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EDAF2A1-528A-971B-EFC8-DAC9027150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8" name="Image 7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84E303CF-6FDD-FD9C-F250-A30AEED909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765114" y="-441119"/>
            <a:ext cx="7772400" cy="6618082"/>
          </a:xfrm>
          <a:prstGeom prst="rect">
            <a:avLst/>
          </a:prstGeom>
        </p:spPr>
      </p:pic>
      <p:pic>
        <p:nvPicPr>
          <p:cNvPr id="9" name="Image 8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4625C4CA-3720-921A-4B44-E5C26C9F0E8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555538" y="1825625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96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619E-A00A-35F0-1156-36E2E8AD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102E0-99EC-CEB9-35AB-5532AB66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latin typeface=""/>
              </a:rPr>
              <a:t>Sujet 3 </a:t>
            </a:r>
            <a:r>
              <a:rPr lang="fr-FR" dirty="0">
                <a:solidFill>
                  <a:schemeClr val="bg1"/>
                </a:solidFill>
              </a:rPr>
              <a:t>– Optimisation CPU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sz="2800" dirty="0">
                <a:solidFill>
                  <a:srgbClr val="FF7000"/>
                </a:solidFill>
              </a:rPr>
              <a:t>Alexis Langlade / </a:t>
            </a:r>
            <a:r>
              <a:rPr lang="fr-FR" sz="2800" dirty="0" err="1">
                <a:solidFill>
                  <a:srgbClr val="FF7000"/>
                </a:solidFill>
              </a:rPr>
              <a:t>Jéremy</a:t>
            </a:r>
            <a:r>
              <a:rPr lang="fr-FR" sz="2800" dirty="0">
                <a:solidFill>
                  <a:srgbClr val="FF7000"/>
                </a:solidFill>
              </a:rPr>
              <a:t> Lemaire</a:t>
            </a:r>
            <a:endParaRPr sz="2800" dirty="0">
              <a:solidFill>
                <a:srgbClr val="FF7000"/>
              </a:solidFill>
              <a:latin typeface="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67C778-1667-8191-3150-EBC3C00AA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Clr>
                <a:srgbClr val="FF7900"/>
              </a:buClr>
              <a:buSzPct val="100000"/>
              <a:buNone/>
            </a:pPr>
            <a:r>
              <a:rPr lang="fr-FR" u="sng">
                <a:solidFill>
                  <a:schemeClr val="bg1"/>
                </a:solidFill>
                <a:latin typeface="Helvetica 55 Roman"/>
              </a:rPr>
              <a:t>Prérequis techniques</a:t>
            </a:r>
            <a:endParaRPr lang="fr-FR">
              <a:solidFill>
                <a:schemeClr val="bg1"/>
              </a:solidFill>
              <a:latin typeface="Helvetica 55 Roman"/>
            </a:endParaRP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>
                <a:solidFill>
                  <a:schemeClr val="bg1"/>
                </a:solidFill>
                <a:latin typeface="Helvetica 55 Roman"/>
              </a:rPr>
              <a:t>Installer </a:t>
            </a:r>
            <a:r>
              <a:rPr lang="fr-FR" err="1">
                <a:solidFill>
                  <a:schemeClr val="bg1"/>
                </a:solidFill>
                <a:latin typeface="Helvetica 55 Roman"/>
              </a:rPr>
              <a:t>Netdata</a:t>
            </a:r>
            <a:r>
              <a:rPr lang="fr-FR">
                <a:solidFill>
                  <a:schemeClr val="bg1"/>
                </a:solidFill>
                <a:latin typeface="Helvetica 55 Roman"/>
              </a:rPr>
              <a:t> (</a:t>
            </a:r>
            <a:r>
              <a:rPr lang="fr-FR" err="1">
                <a:solidFill>
                  <a:schemeClr val="bg1"/>
                </a:solidFill>
                <a:latin typeface="Helvetica 55 Roman"/>
              </a:rPr>
              <a:t>grapher</a:t>
            </a:r>
            <a:r>
              <a:rPr lang="fr-FR">
                <a:solidFill>
                  <a:schemeClr val="bg1"/>
                </a:solidFill>
                <a:latin typeface="Helvetica 55 Roman"/>
              </a:rPr>
              <a:t>) + librairies </a:t>
            </a:r>
            <a:r>
              <a:rPr lang="fr-FR" err="1">
                <a:solidFill>
                  <a:schemeClr val="bg1"/>
                </a:solidFill>
                <a:latin typeface="Helvetica 55 Roman"/>
              </a:rPr>
              <a:t>eBPF</a:t>
            </a:r>
            <a:endParaRPr lang="fr-FR">
              <a:solidFill>
                <a:schemeClr val="bg1"/>
              </a:solidFill>
              <a:latin typeface="Helvetica 55 Roman"/>
            </a:endParaRP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>
                <a:solidFill>
                  <a:schemeClr val="bg1"/>
                </a:solidFill>
                <a:latin typeface="Helvetica 55 Roman"/>
              </a:rPr>
              <a:t>Accès BIOS pour tester modes “éco” vs “performance” (et, si possible, OS‑</a:t>
            </a:r>
            <a:r>
              <a:rPr lang="fr-FR" err="1">
                <a:solidFill>
                  <a:schemeClr val="bg1"/>
                </a:solidFill>
                <a:latin typeface="Helvetica 55 Roman"/>
              </a:rPr>
              <a:t>controlled</a:t>
            </a:r>
            <a:r>
              <a:rPr lang="fr-FR">
                <a:solidFill>
                  <a:schemeClr val="bg1"/>
                </a:solidFill>
                <a:latin typeface="Helvetica 55 Roman"/>
              </a:rPr>
              <a:t>)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>
                <a:solidFill>
                  <a:schemeClr val="bg1"/>
                </a:solidFill>
                <a:latin typeface="Helvetica 55 Roman"/>
              </a:rPr>
              <a:t>Pipeline PCA avec dédoublonner sur fichier à 9M de lignes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q"/>
            </a:pPr>
            <a:r>
              <a:rPr lang="fr-FR">
                <a:solidFill>
                  <a:schemeClr val="bg1"/>
                </a:solidFill>
                <a:latin typeface="Helvetica 55 Roman"/>
              </a:rPr>
              <a:t>Environnement Linux (ex. Debian sous WSL acceptable)</a:t>
            </a:r>
          </a:p>
          <a:p>
            <a:pPr marL="0" indent="0">
              <a:buClr>
                <a:srgbClr val="FF7900"/>
              </a:buClr>
              <a:buSzPct val="100000"/>
              <a:buNone/>
            </a:pPr>
            <a:endParaRPr lang="fr-FR">
              <a:solidFill>
                <a:schemeClr val="bg1"/>
              </a:solidFill>
              <a:latin typeface="Helvetica 55 Roman" panose="02000503040000020004" pitchFamily="34" charset="0"/>
            </a:endParaRPr>
          </a:p>
          <a:p>
            <a:pPr marL="0" indent="0">
              <a:buNone/>
            </a:pPr>
            <a:r>
              <a:rPr lang="fr-FR" u="sng">
                <a:solidFill>
                  <a:schemeClr val="bg1"/>
                </a:solidFill>
                <a:latin typeface="Helvetica 55 Roman" panose="02000503040000020004" pitchFamily="34" charset="0"/>
              </a:rPr>
              <a:t>Livrables attendus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>
                <a:solidFill>
                  <a:schemeClr val="bg1"/>
                </a:solidFill>
                <a:latin typeface="Helvetica 55 Roman" panose="02000503040000020004" pitchFamily="34" charset="0"/>
              </a:rPr>
              <a:t>Scripts de </a:t>
            </a:r>
            <a:r>
              <a:rPr lang="fr-FR" err="1">
                <a:solidFill>
                  <a:schemeClr val="bg1"/>
                </a:solidFill>
                <a:latin typeface="Helvetica 55 Roman" panose="02000503040000020004" pitchFamily="34" charset="0"/>
              </a:rPr>
              <a:t>bench</a:t>
            </a:r>
            <a:r>
              <a:rPr lang="fr-FR">
                <a:solidFill>
                  <a:schemeClr val="bg1"/>
                </a:solidFill>
                <a:latin typeface="Helvetica 55 Roman" panose="02000503040000020004" pitchFamily="34" charset="0"/>
              </a:rPr>
              <a:t> + tableau de résultats (avant/après)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>
                <a:solidFill>
                  <a:schemeClr val="bg1"/>
                </a:solidFill>
                <a:latin typeface="Helvetica 55 Roman" panose="02000503040000020004" pitchFamily="34" charset="0"/>
              </a:rPr>
              <a:t>Dashboard </a:t>
            </a:r>
            <a:r>
              <a:rPr lang="fr-FR" err="1">
                <a:solidFill>
                  <a:schemeClr val="bg1"/>
                </a:solidFill>
                <a:latin typeface="Helvetica 55 Roman" panose="02000503040000020004" pitchFamily="34" charset="0"/>
              </a:rPr>
              <a:t>Netdata</a:t>
            </a:r>
            <a:r>
              <a:rPr lang="fr-FR">
                <a:solidFill>
                  <a:schemeClr val="bg1"/>
                </a:solidFill>
                <a:latin typeface="Helvetica 55 Roman" panose="02000503040000020004" pitchFamily="34" charset="0"/>
              </a:rPr>
              <a:t> prêt à rejouer</a:t>
            </a:r>
          </a:p>
          <a:p>
            <a:pPr marL="742950" lvl="1" indent="-285750">
              <a:buClr>
                <a:srgbClr val="FF7900"/>
              </a:buClr>
              <a:buSzPct val="100000"/>
              <a:buFont typeface="Wingdings" panose="05000000000000000000" pitchFamily="2" charset="2"/>
              <a:buChar char="ü"/>
            </a:pPr>
            <a:r>
              <a:rPr lang="fr-FR">
                <a:solidFill>
                  <a:schemeClr val="bg1"/>
                </a:solidFill>
                <a:latin typeface="Helvetica 55 Roman" panose="02000503040000020004" pitchFamily="34" charset="0"/>
              </a:rPr>
              <a:t>Note de synthèse “perf vs énergie: ce qui marche”</a:t>
            </a:r>
          </a:p>
          <a:p>
            <a:endParaRPr>
              <a:solidFill>
                <a:schemeClr val="bg1"/>
              </a:solidFill>
              <a:latin typeface="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104BF12-7EA4-09D0-B522-BA40A3E0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27537B1-8647-5F9F-78C6-91BB42E99C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8" name="Image 7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A73347C9-2C80-02BE-B390-2B92C3DA7DD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765114" y="-441119"/>
            <a:ext cx="7772400" cy="6618082"/>
          </a:xfrm>
          <a:prstGeom prst="rect">
            <a:avLst/>
          </a:prstGeom>
        </p:spPr>
      </p:pic>
      <p:pic>
        <p:nvPicPr>
          <p:cNvPr id="9" name="Image 8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FEC21C8F-A0E6-331C-CDF7-A31B7FBC48C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555538" y="1825625"/>
            <a:ext cx="7772400" cy="66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87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26C4EB-6D7A-6E15-682D-8611CEAA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  <a:latin typeface=""/>
              </a:rPr>
              <a:t>Conclusion</a:t>
            </a:r>
            <a:endParaRPr>
              <a:solidFill>
                <a:schemeClr val="bg1"/>
              </a:solidFill>
              <a:latin typeface="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C82A3E0-04FB-C8AC-ED50-EA7450544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999" y="6176963"/>
            <a:ext cx="2194507" cy="53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520297-7519-0E74-9279-06ECEB395DBA}"/>
              </a:ext>
            </a:extLst>
          </p:cNvPr>
          <p:cNvGrpSpPr/>
          <p:nvPr/>
        </p:nvGrpSpPr>
        <p:grpSpPr>
          <a:xfrm>
            <a:off x="4474751" y="1208187"/>
            <a:ext cx="3242498" cy="4441626"/>
            <a:chOff x="3870997" y="1208187"/>
            <a:chExt cx="3242498" cy="4441626"/>
          </a:xfrm>
        </p:grpSpPr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2B79EF23-AFC1-ECC4-0C4A-AB0407C8A45F}"/>
                </a:ext>
              </a:extLst>
            </p:cNvPr>
            <p:cNvSpPr/>
            <p:nvPr/>
          </p:nvSpPr>
          <p:spPr>
            <a:xfrm>
              <a:off x="4294841" y="1208187"/>
              <a:ext cx="2563159" cy="6750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800" err="1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Soyez</a:t>
              </a:r>
              <a:r>
                <a:rPr lang="en-US" sz="2800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 </a:t>
              </a:r>
              <a:r>
                <a:rPr lang="en-US" sz="2800" err="1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Créatifs</a:t>
              </a:r>
              <a:r>
                <a:rPr lang="en-US" sz="2800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 !</a:t>
              </a:r>
              <a:endParaRPr lang="en-US" sz="2800">
                <a:latin typeface=""/>
              </a:endParaRPr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B7805BF5-A664-FBB3-EE0C-3B5F3B2F4561}"/>
                </a:ext>
              </a:extLst>
            </p:cNvPr>
            <p:cNvSpPr/>
            <p:nvPr/>
          </p:nvSpPr>
          <p:spPr>
            <a:xfrm>
              <a:off x="4032235" y="3091458"/>
              <a:ext cx="3081260" cy="6750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800" err="1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Restez</a:t>
              </a:r>
              <a:r>
                <a:rPr lang="en-US" sz="2800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 </a:t>
              </a:r>
              <a:r>
                <a:rPr lang="en-US" sz="2800" err="1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Solidaires</a:t>
              </a:r>
              <a:r>
                <a:rPr lang="en-US" sz="2800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 !</a:t>
              </a:r>
              <a:endParaRPr lang="en-US" sz="2800">
                <a:latin typeface=""/>
              </a:endParaRPr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977BD9F0-83B7-3B72-A3C5-284FE7BA1D76}"/>
                </a:ext>
              </a:extLst>
            </p:cNvPr>
            <p:cNvSpPr/>
            <p:nvPr/>
          </p:nvSpPr>
          <p:spPr>
            <a:xfrm>
              <a:off x="3870997" y="4974729"/>
              <a:ext cx="3081260" cy="6750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800" err="1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Visez</a:t>
              </a:r>
              <a:r>
                <a:rPr lang="en-US" sz="2800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 </a:t>
              </a:r>
              <a:r>
                <a:rPr lang="en-US" sz="2800" err="1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l'Excellence</a:t>
              </a:r>
              <a:r>
                <a:rPr lang="en-US" sz="2800">
                  <a:solidFill>
                    <a:srgbClr val="E5E0DF"/>
                  </a:solidFill>
                  <a:latin typeface=""/>
                  <a:ea typeface="Roboto Mono Medium" pitchFamily="34" charset="-122"/>
                  <a:cs typeface="Roboto Mono Medium" pitchFamily="34" charset="-120"/>
                </a:rPr>
                <a:t> !</a:t>
              </a:r>
              <a:endParaRPr lang="en-US" sz="2800">
                <a:latin typeface=""/>
              </a:endParaRP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FC171758-6F8D-A646-EC8C-D78AC040D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2387" y="6113234"/>
            <a:ext cx="3124200" cy="658368"/>
          </a:xfrm>
          <a:prstGeom prst="rect">
            <a:avLst/>
          </a:prstGeom>
        </p:spPr>
      </p:pic>
      <p:pic>
        <p:nvPicPr>
          <p:cNvPr id="12" name="Image 11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CB97DDDC-3183-D042-FEF3-A9C71EB3567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391041" y="-441119"/>
            <a:ext cx="7772400" cy="6618082"/>
          </a:xfrm>
          <a:prstGeom prst="rect">
            <a:avLst/>
          </a:prstGeom>
        </p:spPr>
      </p:pic>
      <p:pic>
        <p:nvPicPr>
          <p:cNvPr id="13" name="Image 12" descr="Une image contenant art, conception, créativité&#10;&#10;Le contenu généré par l’IA peut être incorrect.">
            <a:extLst>
              <a:ext uri="{FF2B5EF4-FFF2-40B4-BE49-F238E27FC236}">
                <a16:creationId xmlns:a16="http://schemas.microsoft.com/office/drawing/2014/main" id="{39EDDD84-5F42-FEB0-4B9D-83B6280E1A0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6160683" y="740671"/>
            <a:ext cx="7772400" cy="6618082"/>
          </a:xfrm>
          <a:prstGeom prst="rect">
            <a:avLst/>
          </a:prstGeom>
        </p:spPr>
      </p:pic>
      <p:pic>
        <p:nvPicPr>
          <p:cNvPr id="14" name="Image 13" descr="Une image contenant conception, typographie, noir et blanc&#10;&#10;Le contenu généré par l’IA peut être incorrect.">
            <a:extLst>
              <a:ext uri="{FF2B5EF4-FFF2-40B4-BE49-F238E27FC236}">
                <a16:creationId xmlns:a16="http://schemas.microsoft.com/office/drawing/2014/main" id="{5D495904-9EB3-9DC5-0F67-EF905AA9B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404" y="-4091326"/>
            <a:ext cx="4523192" cy="390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891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877F8D3-A9F8-B2D7-1C8F-6BB606FBD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808" y="4596164"/>
            <a:ext cx="4055256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A470D07-1A3E-1AD2-4640-B6B801765B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936" y="4360633"/>
            <a:ext cx="5773246" cy="1216606"/>
          </a:xfrm>
          <a:prstGeom prst="rect">
            <a:avLst/>
          </a:prstGeom>
        </p:spPr>
      </p:pic>
      <p:pic>
        <p:nvPicPr>
          <p:cNvPr id="7" name="Image 6" descr="Une image contenant conception, typographie, noir et blanc&#10;&#10;Le contenu généré par l’IA peut être incorrect.">
            <a:extLst>
              <a:ext uri="{FF2B5EF4-FFF2-40B4-BE49-F238E27FC236}">
                <a16:creationId xmlns:a16="http://schemas.microsoft.com/office/drawing/2014/main" id="{1541C53F-67BF-9B19-DB33-B995BC959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404" y="594983"/>
            <a:ext cx="4523192" cy="390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85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73CACB8140F843B3A87B583104C2F3" ma:contentTypeVersion="19" ma:contentTypeDescription="Crée un document." ma:contentTypeScope="" ma:versionID="432aabfd01cf730376d78e195de6eed6">
  <xsd:schema xmlns:xsd="http://www.w3.org/2001/XMLSchema" xmlns:xs="http://www.w3.org/2001/XMLSchema" xmlns:p="http://schemas.microsoft.com/office/2006/metadata/properties" xmlns:ns2="fcb613af-7e6e-4442-8ece-529a27704b36" xmlns:ns3="1387d8ff-d18a-4a47-b535-e50beb3c9600" targetNamespace="http://schemas.microsoft.com/office/2006/metadata/properties" ma:root="true" ma:fieldsID="4b0dfa8ca1bbd770aca1f36d5d23dc50" ns2:_="" ns3:_="">
    <xsd:import namespace="fcb613af-7e6e-4442-8ece-529a27704b36"/>
    <xsd:import namespace="1387d8ff-d18a-4a47-b535-e50beb3c96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613af-7e6e-4442-8ece-529a27704b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ea5cba62-7a90-4cbb-8c0d-a8cd742f6b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87d8ff-d18a-4a47-b535-e50beb3c960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c91235f-0e4f-44a5-88f2-3bb1f52f2e5c}" ma:internalName="TaxCatchAll" ma:showField="CatchAllData" ma:web="1387d8ff-d18a-4a47-b535-e50beb3c96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b613af-7e6e-4442-8ece-529a27704b36">
      <Terms xmlns="http://schemas.microsoft.com/office/infopath/2007/PartnerControls"/>
    </lcf76f155ced4ddcb4097134ff3c332f>
    <TaxCatchAll xmlns="1387d8ff-d18a-4a47-b535-e50beb3c9600" xsi:nil="true"/>
  </documentManagement>
</p:properties>
</file>

<file path=customXml/itemProps1.xml><?xml version="1.0" encoding="utf-8"?>
<ds:datastoreItem xmlns:ds="http://schemas.openxmlformats.org/officeDocument/2006/customXml" ds:itemID="{A0E7AB18-83B8-4390-8640-49B049ED1857}"/>
</file>

<file path=customXml/itemProps2.xml><?xml version="1.0" encoding="utf-8"?>
<ds:datastoreItem xmlns:ds="http://schemas.openxmlformats.org/officeDocument/2006/customXml" ds:itemID="{DFA48917-B237-4C23-A022-ED71C16DA2A9}"/>
</file>

<file path=customXml/itemProps3.xml><?xml version="1.0" encoding="utf-8"?>
<ds:datastoreItem xmlns:ds="http://schemas.openxmlformats.org/officeDocument/2006/customXml" ds:itemID="{7754D08C-267C-4446-B3AD-72CDC1E9DFD7}"/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1096</Words>
  <Application>Microsoft Macintosh PowerPoint</Application>
  <PresentationFormat>Grand écran</PresentationFormat>
  <Paragraphs>146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Courier New</vt:lpstr>
      <vt:lpstr>Helvetica 55 Roman</vt:lpstr>
      <vt:lpstr>Helvetica 75</vt:lpstr>
      <vt:lpstr>Helvetica 75 Bold</vt:lpstr>
      <vt:lpstr>IBM Plex Sans</vt:lpstr>
      <vt:lpstr>Wingdings</vt:lpstr>
      <vt:lpstr>Thème Office</vt:lpstr>
      <vt:lpstr>Kick-off Hackathon Epitech &amp; Orange Business</vt:lpstr>
      <vt:lpstr>Objectifs du Hackathon</vt:lpstr>
      <vt:lpstr>Constitution des équipes</vt:lpstr>
      <vt:lpstr>Les coachs - Epitech</vt:lpstr>
      <vt:lpstr>Les mentors – Orange Business</vt:lpstr>
      <vt:lpstr>Le Jury</vt:lpstr>
      <vt:lpstr>Rendu final</vt:lpstr>
      <vt:lpstr>Ressources disponibles</vt:lpstr>
      <vt:lpstr>Planning du week-end</vt:lpstr>
      <vt:lpstr>Sujet 1 – SDWAN upgrade parc réseau Alexandre Aubert / Tanguy Jeanne</vt:lpstr>
      <vt:lpstr>Sujet 1 – SDWAN upgrade parc réseau Alexandre Aubert / Tanguy Jeanne</vt:lpstr>
      <vt:lpstr>Sujet 2 – Ontology Enzo Pascallon</vt:lpstr>
      <vt:lpstr>Sujet 2 – Ontology Enzo Pascallon</vt:lpstr>
      <vt:lpstr>Sujet 3 – Optimisation CPU Alexis Langlade / Jéremy Lemaire</vt:lpstr>
      <vt:lpstr>Sujet 3 – Optimisation CPU Alexis Langlade / Jéremy Lemaire</vt:lpstr>
      <vt:lpstr>Conclusion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Romaric Moy</dc:creator>
  <cp:lastModifiedBy>Romaric Moy</cp:lastModifiedBy>
  <cp:revision>10</cp:revision>
  <dcterms:created xsi:type="dcterms:W3CDTF">2026-02-03T15:00:26Z</dcterms:created>
  <dcterms:modified xsi:type="dcterms:W3CDTF">2026-02-06T17:29:09Z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 Office:8</vt:lpwstr>
  </property>
  <property fmtid="{D5CDD505-2E9C-101B-9397-08002B2CF9AE}" pid="3" name="ClassificationContentMarkingFooterText">
    <vt:lpwstr>Orange Restricted</vt:lpwstr>
  </property>
  <property fmtid="{D5CDD505-2E9C-101B-9397-08002B2CF9AE}" pid="4" name="ContentTypeId">
    <vt:lpwstr>0x0101000073CACB8140F843B3A87B583104C2F3</vt:lpwstr>
  </property>
</Properties>
</file>